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E7D32">
              <a:alpha val="4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45720" cy="292608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88720"/>
            <a:ext cx="1463040" cy="32918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887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ESG × SSD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永續科技 from SSD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>
                    <a:alpha val="75000"/>
                  </a:srgbClr>
                </a:solidFill>
              </a:rPr>
              <a:t>固態硬碟的 ESG 價值 × 企業永續實踐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C2B1C"/>
          </a:solidFill>
          <a:ln w="12700">
            <a:solidFill>
              <a:srgbClr val="1C2B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</a:rPr>
              <a:t>教育訓練教材  ·  入門課程  ·  2026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82880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5E20"/>
                </a:solidFill>
              </a:rPr>
              <a:t>先問一個問題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686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C2B1C"/>
                </a:solidFill>
              </a:rPr>
              <a:t>一間公司，只顧賺錢、不管環境、欺負員工——你會想買它的股票嗎？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57200"/>
            <a:ext cx="2011680" cy="2651760"/>
          </a:xfrm>
          <a:prstGeom prst="rect">
            <a:avLst/>
          </a:prstGeom>
          <a:solidFill>
            <a:srgbClr val="F8FBF3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0" y="457200"/>
            <a:ext cx="54864" cy="2651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14884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97280" y="3154680"/>
            <a:ext cx="13716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31546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3593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環境保護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39136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Environmental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減少污染、節約能源、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保護自然資源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0" y="3291840"/>
            <a:ext cx="2011680" cy="2651760"/>
          </a:xfrm>
          <a:prstGeom prst="rect">
            <a:avLst/>
          </a:prstGeom>
          <a:solidFill>
            <a:srgbClr val="F8FBF3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0" y="3291840"/>
            <a:ext cx="54864" cy="2651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2148840"/>
            <a:ext cx="914400" cy="9144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931920" y="3154680"/>
            <a:ext cx="1371600" cy="34747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931920" y="31546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291840" y="3593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8D1"/>
                </a:solidFill>
              </a:rPr>
              <a:t>社會責任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291840" y="39136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Social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42900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善待員工、回饋社區、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尊重人權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0" y="6126480"/>
            <a:ext cx="2011680" cy="2651760"/>
          </a:xfrm>
          <a:prstGeom prst="rect">
            <a:avLst/>
          </a:prstGeom>
          <a:solidFill>
            <a:srgbClr val="F8FBF3"/>
          </a:solidFill>
          <a:ln w="6350">
            <a:solidFill>
              <a:srgbClr val="0000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0" y="6126480"/>
            <a:ext cx="54864" cy="26517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148840"/>
            <a:ext cx="914400" cy="91440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766560" y="3154680"/>
            <a:ext cx="13716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766560" y="31546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6126480" y="3593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5E20"/>
                </a:solidFill>
              </a:rPr>
              <a:t>公司治理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126480" y="39136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Governance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26364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透明營運、誠實報告、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反腐敗、防內線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F9A825">
              <a:alpha val="2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2B1C"/>
                </a:solidFill>
              </a:rPr>
              <a:t>💡 ESG 是評估一家公司「是否值得長期投資」的核心框架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8D1"/>
                </a:solidFill>
              </a:rPr>
              <a:t>SSD 是什麼？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980944" cy="292608"/>
          </a:xfrm>
          <a:prstGeom prst="rect">
            <a:avLst/>
          </a:prstGeom>
          <a:solidFill>
            <a:srgbClr val="0288D1">
              <a:alpha val="85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8D1"/>
                </a:solidFill>
              </a:rPr>
              <a:t>固態硬碟 Solid-State Drive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926080" cy="292608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1234440"/>
          <a:ext cx="5212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比一比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8D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傳統 HDD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4A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SSD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2B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儲存原理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4A1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旋轉磁盤 + 讀寫頭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快閃記憶體（NAND Flash）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2B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有機械零件？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4A1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✅ 有（會磨損）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❌ 沒有（全固態）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2B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讀寫速度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4A1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慢（50~150 MB/s）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快（500~7,000 MB/s）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2B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耗電量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4A1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高（需馬達旋轉）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低（無機械動作）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2B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發熱量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4A1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C2B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價格（同容量）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4A1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便宜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A89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較貴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0288D1">
              <a:alpha val="10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8D1"/>
                </a:solidFill>
              </a:rPr>
              <a:t>📌 SSD 不只是「比較快的硬碟」——它改變了整個資料中心的能源邏輯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5E20"/>
                </a:solidFill>
              </a:rPr>
              <a:t>SSD 的 ESG 價值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267712" cy="292608"/>
          </a:xfrm>
          <a:prstGeom prst="rect">
            <a:avLst/>
          </a:prstGeom>
          <a:solidFill>
            <a:srgbClr val="1B5E20">
              <a:alpha val="85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為什麼 SSD 能幫助 ESG？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274320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1463040"/>
            <a:ext cx="1005840" cy="1005840"/>
          </a:xfrm>
          <a:prstGeom prst="ellipse">
            <a:avLst/>
          </a:prstGeom>
          <a:solidFill>
            <a:srgbClr val="F9A825">
              <a:alpha val="15000"/>
            </a:srgbClr>
          </a:solidFill>
          <a:ln w="12700">
            <a:solidFill>
              <a:srgbClr val="F9A82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00200"/>
            <a:ext cx="73152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560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A825"/>
                </a:solidFill>
              </a:rPr>
              <a:t>E · 環境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1C"/>
                </a:solidFill>
              </a:rPr>
              <a:t>節能 70%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32004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</a:rPr>
              <a:t>無馬達，無旋轉損耗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</a:rPr>
              <a:t>發熱量低，空調需求下降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</a:rPr>
              <a:t>讀寫速度快 = 任務更快完成 = 待機時間更長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</a:rPr>
              <a:t>等同減少碳排放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46120" y="128016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0288D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1280160"/>
            <a:ext cx="2743200" cy="7315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14800" y="1463040"/>
            <a:ext cx="1005840" cy="1005840"/>
          </a:xfrm>
          <a:prstGeom prst="ellipse">
            <a:avLst/>
          </a:prstGeom>
          <a:solidFill>
            <a:srgbClr val="0288D1">
              <a:alpha val="15000"/>
            </a:srgbClr>
          </a:solidFill>
          <a:ln w="12700">
            <a:solidFill>
              <a:srgbClr val="0288D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00200"/>
            <a:ext cx="731520" cy="7315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46120" y="2560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8D1"/>
                </a:solidFill>
              </a:rPr>
              <a:t>E · 環境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24612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1C"/>
                </a:solidFill>
              </a:rPr>
              <a:t>散热 × 空間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3429000" y="32004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</a:rPr>
              <a:t>低熱產生，機房溫控負擔降低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</a:rPr>
              <a:t>體積小（2.5吋/M.2），機房占用空間更少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</a:rPr>
              <a:t>可靠性高，減少硬體更換頻率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</a:rPr>
              <a:t>降低電子廢棄物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26480" y="1280160"/>
            <a:ext cx="27432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1280160"/>
            <a:ext cx="27432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995160" y="1463040"/>
            <a:ext cx="1005840" cy="1005840"/>
          </a:xfrm>
          <a:prstGeom prst="ellipse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00200"/>
            <a:ext cx="731520" cy="7315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26480" y="2560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G · 治理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1264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B1C"/>
                </a:solidFill>
              </a:rPr>
              <a:t>穩定 × 合規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309360" y="3200400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</a:rPr>
              <a:t>無機械故障風險，系統穩定度提升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</a:rPr>
              <a:t>符合企業永續報告（CSR/ESG Report）要求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</a:rPr>
              <a:t>高效能支撐資料分析，合規審查更快速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</a:rPr>
              <a:t>支援绿色資料中心認證（如 LEED、ISO 50001）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288D1"/>
                </a:solidFill>
              </a:rPr>
              <a:t>用數據說話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386584" cy="292608"/>
          </a:xfrm>
          <a:prstGeom prst="rect">
            <a:avLst/>
          </a:prstGeom>
          <a:solidFill>
            <a:srgbClr val="0288D1">
              <a:alpha val="85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220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8D1"/>
                </a:solidFill>
              </a:rPr>
              <a:t>SSD vs HDD 真實數據對比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65960" cy="1417320"/>
          </a:xfrm>
          <a:prstGeom prst="rect">
            <a:avLst/>
          </a:prstGeom>
          <a:solidFill>
            <a:srgbClr val="2E7D32">
              <a:alpha val="9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1965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32"/>
                </a:solidFill>
              </a:rPr>
              <a:t>70%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01396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能耗節省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SSD vs HDD（無機械馬達）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234440"/>
            <a:ext cx="1965960" cy="1417320"/>
          </a:xfrm>
          <a:prstGeom prst="rect">
            <a:avLst/>
          </a:prstGeom>
          <a:solidFill>
            <a:srgbClr val="00A896">
              <a:alpha val="9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25880"/>
            <a:ext cx="1965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A896"/>
                </a:solidFill>
              </a:rPr>
              <a:t>3~5x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606040" y="201396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壽命延長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697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平均無故障運行時間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234440"/>
            <a:ext cx="1965960" cy="1417320"/>
          </a:xfrm>
          <a:prstGeom prst="rect">
            <a:avLst/>
          </a:prstGeom>
          <a:solidFill>
            <a:srgbClr val="0288D1">
              <a:alpha val="90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325880"/>
            <a:ext cx="1965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8D1"/>
                </a:solidFill>
              </a:rPr>
              <a:t>50%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754880" y="201396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機房空間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697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相同容量，SSD 佔用空間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1234440"/>
            <a:ext cx="1965960" cy="1417320"/>
          </a:xfrm>
          <a:prstGeom prst="rect">
            <a:avLst/>
          </a:prstGeom>
          <a:solidFill>
            <a:srgbClr val="F9A825">
              <a:alpha val="9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1325880"/>
            <a:ext cx="19659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A825"/>
                </a:solidFill>
              </a:rPr>
              <a:t>30%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903720" y="201396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散熱降低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2697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機房溫控負擔減輕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822960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00400"/>
            <a:ext cx="5760720" cy="347472"/>
          </a:xfrm>
          <a:prstGeom prst="rect">
            <a:avLst/>
          </a:prstGeom>
          <a:solidFill>
            <a:srgbClr val="2E7D32">
              <a:alpha val="8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00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HDD 能耗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55080" y="3200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288D1"/>
                </a:solidFill>
              </a:rPr>
              <a:t>SSD 能耗（節省 30%）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8229600" cy="118872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840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🌍 實際案例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160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C2B1C"/>
                </a:solidFill>
              </a:rPr>
              <a:t>一個中型資料中心（1,000 台伺服器）全面換裝 SSD：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C2B1C"/>
                </a:solidFill>
              </a:rPr>
              <a:t>每年減少碳排放約 </a:t>
            </a:r>
            <a:pPr algn="l"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1,200 噸 CO₂</a:t>
            </a:r>
            <a:pPr algn="l" indent="0" marL="0">
              <a:buNone/>
            </a:pPr>
            <a:r>
              <a:rPr lang="en-US" sz="1300" dirty="0">
                <a:solidFill>
                  <a:srgbClr val="1C2B1C"/>
                </a:solidFill>
              </a:rPr>
              <a:t>，節省電力費用約 </a:t>
            </a:r>
            <a:pPr algn="l" indent="0" marL="0">
              <a:buNone/>
            </a:pPr>
            <a:r>
              <a:rPr lang="en-US" sz="1300" b="1" dirty="0">
                <a:solidFill>
                  <a:srgbClr val="0288D1"/>
                </a:solidFill>
              </a:rPr>
              <a:t>15~20%</a:t>
            </a:r>
            <a:pPr algn="l" indent="0" marL="0">
              <a:buNone/>
            </a:pPr>
            <a:r>
              <a:rPr lang="en-US" sz="1300" dirty="0">
                <a:solidFill>
                  <a:srgbClr val="1C2B1C"/>
                </a:solidFill>
              </a:rPr>
              <a:t>（資料來源：企業永續報告常見數據）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5E20"/>
                </a:solidFill>
              </a:rPr>
              <a:t>ESG 報告怎麼呈現 SSD 效益？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148840" cy="292608"/>
          </a:xfrm>
          <a:prstGeom prst="rect">
            <a:avLst/>
          </a:prstGeom>
          <a:solidFill>
            <a:srgbClr val="1B5E20">
              <a:alpha val="85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把技術行動轉化為 ESG 敘事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0116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71600"/>
            <a:ext cx="59436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41732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1C"/>
                </a:solidFill>
              </a:rPr>
              <a:t>盤點基礎設施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743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統計目前 HDD 數量、耗電量、機房面積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148840"/>
            <a:ext cx="320040" cy="320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42032" y="1234440"/>
            <a:ext cx="20116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679192" y="1371600"/>
            <a:ext cx="594360" cy="5943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79192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1417320"/>
            <a:ext cx="914400" cy="914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633472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1C"/>
                </a:solidFill>
              </a:rPr>
              <a:t>計算置換效益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633472" y="2743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用公式推估節能、減碳、空間節省數字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148840"/>
            <a:ext cx="320040" cy="320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718304" y="1234440"/>
            <a:ext cx="20116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855464" y="1371600"/>
            <a:ext cx="59436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855464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984" y="1417320"/>
            <a:ext cx="914400" cy="9144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809744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1C"/>
                </a:solidFill>
              </a:rPr>
              <a:t>對應 ESG 框架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809744" y="2743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寫入 E（節能減碳）+ G（風險管理）章節</a:t>
            </a:r>
            <a:endParaRPr lang="en-US" sz="1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2148840"/>
            <a:ext cx="320040" cy="32004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894576" y="1234440"/>
            <a:ext cx="20116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7031736" y="1371600"/>
            <a:ext cx="594360" cy="5943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7031736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3256" y="1417320"/>
            <a:ext cx="914400" cy="9144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86016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B1C"/>
                </a:solidFill>
              </a:rPr>
              <a:t>量化並視覺化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6986016" y="27432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用圖表呈現年度能耗差異、碳減排成果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64008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📝 報告內文範例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640080" y="431596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「本公司於 2025 年將資料中心儲存系統全面升級至 SSD，相較傳統 HDD 架構，年耗電量減少 42%，相當於減少 680 噸碳排放，並獲得 ISO 50001 能源管理認證。」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A896"/>
                </a:solidFill>
              </a:rPr>
              <a:t>企業行動路線圖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267712" cy="292608"/>
          </a:xfrm>
          <a:prstGeom prst="rect">
            <a:avLst/>
          </a:prstGeom>
          <a:solidFill>
            <a:srgbClr val="00A896">
              <a:alpha val="85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822960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從評估到減碳，一步步實踐 ESG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011680" cy="2926080"/>
          </a:xfrm>
          <a:prstGeom prst="rect">
            <a:avLst/>
          </a:prstGeom>
          <a:solidFill>
            <a:srgbClr val="2E7D32">
              <a:alpha val="8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234440"/>
            <a:ext cx="201168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第一階段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664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</a:rPr>
              <a:t>評估與規劃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9933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1~2 個月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17373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B1C"/>
                </a:solidFill>
              </a:rPr>
              <a:t>盤點現有 HDD 數量與能耗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B1C"/>
                </a:solidFill>
              </a:rPr>
              <a:t>計算 SSD 置換ROI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B1C"/>
                </a:solidFill>
              </a:rPr>
              <a:t>擬定分階段置換計畫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234440"/>
            <a:ext cx="2011680" cy="2926080"/>
          </a:xfrm>
          <a:prstGeom prst="rect">
            <a:avLst/>
          </a:prstGeom>
          <a:solidFill>
            <a:srgbClr val="0288D1">
              <a:alpha val="8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1234440"/>
            <a:ext cx="2011680" cy="38404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第二階段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1664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8D1"/>
                </a:solidFill>
              </a:rPr>
              <a:t>先導試行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19933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2~3 個月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2286000"/>
            <a:ext cx="17373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B1C"/>
                </a:solidFill>
              </a:rPr>
              <a:t>選擇非核心系統先行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B1C"/>
                </a:solidFill>
              </a:rPr>
              <a:t>收集實際節能數據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B1C"/>
                </a:solidFill>
              </a:rPr>
              <a:t>驗證效能提升效果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1234440"/>
            <a:ext cx="2011680" cy="2926080"/>
          </a:xfrm>
          <a:prstGeom prst="rect">
            <a:avLst/>
          </a:prstGeom>
          <a:solidFill>
            <a:srgbClr val="00A896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234440"/>
            <a:ext cx="201168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第三階段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1664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全面部署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19933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6~12 個月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286000"/>
            <a:ext cx="17373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B1C"/>
                </a:solidFill>
              </a:rPr>
              <a:t>核心系統陸續遷移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B1C"/>
                </a:solidFill>
              </a:rPr>
              <a:t>更新機房溫控設定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B1C"/>
                </a:solidFill>
              </a:rPr>
              <a:t>建立監控儀表板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1234440"/>
            <a:ext cx="2011680" cy="2926080"/>
          </a:xfrm>
          <a:prstGeom prst="rect">
            <a:avLst/>
          </a:prstGeom>
          <a:solidFill>
            <a:srgbClr val="F9A825">
              <a:alpha val="8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1234440"/>
            <a:ext cx="2011680" cy="3840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1234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第四階段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1664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A825"/>
                </a:solidFill>
              </a:rPr>
              <a:t>報告與優化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03720" y="19933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持續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40880" y="2286000"/>
            <a:ext cx="173736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B1C"/>
                </a:solidFill>
              </a:rPr>
              <a:t>年報呈現減碳成果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B1C"/>
                </a:solidFill>
              </a:rPr>
              <a:t>參與 ESG 評比（MSCI、S&amp;P）</a:t>
            </a:r>
            <a:endParaRPr lang="en-US" sz="10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C2B1C"/>
                </a:solidFill>
              </a:rPr>
              <a:t>持續追蹤優化效益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solidFill>
            <a:srgbClr val="00A896">
              <a:alpha val="10000"/>
            </a:srgbClr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💡 關鍵原則：ESG 不是口號，是可量化、可報告、可追蹤的實際行動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5E20"/>
                </a:solidFill>
              </a:rPr>
              <a:t>常見問題 Q&amp;A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690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960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B1C"/>
                </a:solidFill>
              </a:rPr>
              <a:t>SSD 價格比 HDD 貴，值得嗎？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3794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初期成本高，但 2~3 年內透過節省電費、維護成本，總持有成本（TCO）通常更低。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690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41148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66360" y="960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B1C"/>
                </a:solidFill>
              </a:rPr>
              <a:t>只有大企業才需要關注 ESG 嗎？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389888"/>
            <a:ext cx="3794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不，ESG 是所有企業的趨勢。投資人、客戶、供應鏈要求越來越嚴格，越早佈局越有利。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40690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06040"/>
            <a:ext cx="41148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B1C"/>
                </a:solidFill>
              </a:rPr>
              <a:t>SSD 的壽命是否比 HDD 短？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081528"/>
            <a:ext cx="3794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現代 SSD 壽命已大幅提升（平均 5 年以上），且無機械故障風險，整體可靠性更高。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606040"/>
            <a:ext cx="40690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606040"/>
            <a:ext cx="41148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B1C"/>
                </a:solidFill>
              </a:rPr>
              <a:t>如何讓 SSD 的效益計入 ESG 報告？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081528"/>
            <a:ext cx="37947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從能耗、碳排放、設備更換率等指標量化，寫入環境（E）與治理（G）章節。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2E7D32">
              <a:alpha val="3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11480" cy="411480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35331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2344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ESG 是評估企業永續價值的核心框架（E / S / G）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411480" cy="411480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9339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8745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SSD 比 HDD 更節能、更穩定、更環保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2560320"/>
            <a:ext cx="411480" cy="411480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63347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5146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SSD 幫助企業減少能耗、碳排放、降低電子廢棄物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3200400"/>
            <a:ext cx="411480" cy="411480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27355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1546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SSD 效益可以量化，寫入 ESG 報告，成為加分證據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548640" y="3840480"/>
            <a:ext cx="411480" cy="411480"/>
          </a:xfrm>
          <a:prstGeom prst="ellipse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91363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37947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任何規模的企業都可以從 SSD 置換開始實踐 ESG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下一步：從今天起，把 SSD 視為 ESG 行動的第一步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B5E20">
              <a:alpha val="30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288D1">
              <a:alpha val="20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謝謝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</a:rPr>
              <a:t>ESG 與 SSD 教育訓練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2697480"/>
            <a:ext cx="5486400" cy="1463040"/>
          </a:xfrm>
          <a:prstGeom prst="rect">
            <a:avLst/>
          </a:prstGeom>
          <a:solidFill>
            <a:srgbClr val="1B5E20">
              <a:alpha val="7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96"/>
                </a:solidFill>
              </a:rPr>
              <a:t>推薦延伸資源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312724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</a:rPr>
              <a:t>GRI 永續報導準則（GRI Standards）</a:t>
            </a:r>
            <a:endParaRPr lang="en-US" sz="11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</a:rPr>
              <a:t>SASB 產業指標（Sustainability standards）</a:t>
            </a:r>
            <a:endParaRPr lang="en-US" sz="11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</a:rPr>
              <a:t>ISO 50001 能源管理系統</a:t>
            </a:r>
            <a:endParaRPr lang="en-US" sz="110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</a:rPr>
              <a:t>CDP 碳揭露計畫（carbonprofit.org）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</a:rPr>
              <a:t>教育訓練教材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ESG 與 SSD：從基礎到實務</dc:title>
  <dc:subject>PptxGenJS Presentation</dc:subject>
  <dc:creator>教育訓練教材</dc:creator>
  <cp:lastModifiedBy>教育訓練教材</cp:lastModifiedBy>
  <cp:revision>1</cp:revision>
  <dcterms:created xsi:type="dcterms:W3CDTF">2026-05-16T09:29:15Z</dcterms:created>
  <dcterms:modified xsi:type="dcterms:W3CDTF">2026-05-16T09:29:15Z</dcterms:modified>
</cp:coreProperties>
</file>