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2E7D32">
              <a:alpha val="35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0695C">
              <a:alpha val="28000"/>
            </a:srgbClr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188720"/>
            <a:ext cx="45720" cy="2834640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280160"/>
            <a:ext cx="1371600" cy="31089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2801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專業報告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SSD 在 ESG 中的應用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>
                    <a:alpha val="72000"/>
                  </a:srgbClr>
                </a:solidFill>
              </a:rPr>
              <a:t>固態硬碟 × 企業永續策略 × 實踐指南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C2B1C"/>
          </a:solidFill>
          <a:ln w="12700">
            <a:solidFill>
              <a:srgbClr val="1C2B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65000"/>
                  </a:srgbClr>
                </a:solidFill>
              </a:rPr>
              <a:t>環境保護  ·  社會責任  ·  公司治理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73736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5E20"/>
                </a:solidFill>
              </a:rPr>
              <a:t>目錄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011680" cy="1691640"/>
          </a:xfrm>
          <a:prstGeom prst="rect">
            <a:avLst/>
          </a:prstGeom>
          <a:solidFill>
            <a:srgbClr val="F1F8E9"/>
          </a:solidFill>
          <a:ln w="7620">
            <a:solidFill>
              <a:srgbClr val="2E7D3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64008" cy="1691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97280"/>
            <a:ext cx="548640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143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ESG 框架基礎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5727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p. 3–4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640080" cy="6400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542032" y="914400"/>
            <a:ext cx="2011680" cy="1691640"/>
          </a:xfrm>
          <a:prstGeom prst="rect">
            <a:avLst/>
          </a:prstGeom>
          <a:solidFill>
            <a:srgbClr val="F1F8E9"/>
          </a:solidFill>
          <a:ln w="7620">
            <a:solidFill>
              <a:srgbClr val="00838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42032" y="914400"/>
            <a:ext cx="64008" cy="16916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79192" y="1097280"/>
            <a:ext cx="548640" cy="5486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79192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319272" y="1143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838F"/>
                </a:solidFill>
              </a:rPr>
              <a:t>SSD 核心技術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319272" y="15727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p. 5–6</a:t>
            </a:r>
            <a:endParaRPr lang="en-US" sz="10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1828800"/>
            <a:ext cx="640080" cy="64008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718304" y="914400"/>
            <a:ext cx="2011680" cy="1691640"/>
          </a:xfrm>
          <a:prstGeom prst="rect">
            <a:avLst/>
          </a:prstGeom>
          <a:solidFill>
            <a:srgbClr val="F1F8E9"/>
          </a:solidFill>
          <a:ln w="7620">
            <a:solidFill>
              <a:srgbClr val="0089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718304" y="914400"/>
            <a:ext cx="64008" cy="16916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855464" y="1097280"/>
            <a:ext cx="548640" cy="5486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855464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5495544" y="1143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897B"/>
                </a:solidFill>
              </a:rPr>
              <a:t>環境面向（E）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495544" y="15727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p. 7–12</a:t>
            </a:r>
            <a:endParaRPr lang="en-US" sz="10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824" y="1828800"/>
            <a:ext cx="640080" cy="64008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6894576" y="914400"/>
            <a:ext cx="2011680" cy="1691640"/>
          </a:xfrm>
          <a:prstGeom prst="rect">
            <a:avLst/>
          </a:prstGeom>
          <a:solidFill>
            <a:srgbClr val="F1F8E9"/>
          </a:solidFill>
          <a:ln w="7620">
            <a:solidFill>
              <a:srgbClr val="0069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894576" y="914400"/>
            <a:ext cx="64008" cy="169164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031736" y="1097280"/>
            <a:ext cx="548640" cy="54864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031736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7671816" y="1143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95C"/>
                </a:solidFill>
              </a:rPr>
              <a:t>社會面向（S）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7671816" y="15727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p. 13–15</a:t>
            </a:r>
            <a:endParaRPr lang="en-US" sz="10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6096" y="1828800"/>
            <a:ext cx="640080" cy="640080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365760" y="2788920"/>
            <a:ext cx="2011680" cy="1691640"/>
          </a:xfrm>
          <a:prstGeom prst="rect">
            <a:avLst/>
          </a:prstGeom>
          <a:solidFill>
            <a:srgbClr val="F1F8E9"/>
          </a:solidFill>
          <a:ln w="7620">
            <a:solidFill>
              <a:srgbClr val="1B5E2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365760" y="2788920"/>
            <a:ext cx="64008" cy="16916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502920" y="2971800"/>
            <a:ext cx="548640" cy="5486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50292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36" name="Text 30"/>
          <p:cNvSpPr/>
          <p:nvPr/>
        </p:nvSpPr>
        <p:spPr>
          <a:xfrm>
            <a:off x="1143000" y="3017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治理面向（G）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1143000" y="34472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p. 16–18</a:t>
            </a:r>
            <a:endParaRPr lang="en-US" sz="1000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3703320"/>
            <a:ext cx="640080" cy="640080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2542032" y="2788920"/>
            <a:ext cx="2011680" cy="1691640"/>
          </a:xfrm>
          <a:prstGeom prst="rect">
            <a:avLst/>
          </a:prstGeom>
          <a:solidFill>
            <a:srgbClr val="F1F8E9"/>
          </a:solidFill>
          <a:ln w="7620">
            <a:solidFill>
              <a:srgbClr val="F9A82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2542032" y="2788920"/>
            <a:ext cx="64008" cy="16916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2679192" y="2971800"/>
            <a:ext cx="548640" cy="5486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2679192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43" name="Text 36"/>
          <p:cNvSpPr/>
          <p:nvPr/>
        </p:nvSpPr>
        <p:spPr>
          <a:xfrm>
            <a:off x="3319272" y="3017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A825"/>
                </a:solidFill>
              </a:rPr>
              <a:t>企業實踐路線圖</a:t>
            </a:r>
            <a:endParaRPr lang="en-US" sz="1300" dirty="0"/>
          </a:p>
        </p:txBody>
      </p:sp>
      <p:sp>
        <p:nvSpPr>
          <p:cNvPr id="44" name="Text 37"/>
          <p:cNvSpPr/>
          <p:nvPr/>
        </p:nvSpPr>
        <p:spPr>
          <a:xfrm>
            <a:off x="3319272" y="34472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p. 19–20</a:t>
            </a:r>
            <a:endParaRPr lang="en-US" sz="1000" dirty="0"/>
          </a:p>
        </p:txBody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3552" y="3703320"/>
            <a:ext cx="640080" cy="640080"/>
          </a:xfrm>
          <a:prstGeom prst="rect">
            <a:avLst/>
          </a:prstGeom>
        </p:spPr>
      </p:pic>
      <p:sp>
        <p:nvSpPr>
          <p:cNvPr id="46" name="Shape 38"/>
          <p:cNvSpPr/>
          <p:nvPr/>
        </p:nvSpPr>
        <p:spPr>
          <a:xfrm>
            <a:off x="4718304" y="2788920"/>
            <a:ext cx="2011680" cy="1691640"/>
          </a:xfrm>
          <a:prstGeom prst="rect">
            <a:avLst/>
          </a:prstGeom>
          <a:solidFill>
            <a:srgbClr val="F1F8E9"/>
          </a:solidFill>
          <a:ln w="7620">
            <a:solidFill>
              <a:srgbClr val="00838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4718304" y="2788920"/>
            <a:ext cx="64008" cy="16916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4855464" y="2971800"/>
            <a:ext cx="548640" cy="5486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4855464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50" name="Text 42"/>
          <p:cNvSpPr/>
          <p:nvPr/>
        </p:nvSpPr>
        <p:spPr>
          <a:xfrm>
            <a:off x="5495544" y="3017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838F"/>
                </a:solidFill>
              </a:rPr>
              <a:t>個案研究</a:t>
            </a:r>
            <a:endParaRPr lang="en-US" sz="1300" dirty="0"/>
          </a:p>
        </p:txBody>
      </p:sp>
      <p:sp>
        <p:nvSpPr>
          <p:cNvPr id="51" name="Text 43"/>
          <p:cNvSpPr/>
          <p:nvPr/>
        </p:nvSpPr>
        <p:spPr>
          <a:xfrm>
            <a:off x="5495544" y="34472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p. 21–22</a:t>
            </a:r>
            <a:endParaRPr lang="en-US" sz="1000" dirty="0"/>
          </a:p>
        </p:txBody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9824" y="3703320"/>
            <a:ext cx="640080" cy="640080"/>
          </a:xfrm>
          <a:prstGeom prst="rect">
            <a:avLst/>
          </a:prstGeom>
        </p:spPr>
      </p:pic>
      <p:sp>
        <p:nvSpPr>
          <p:cNvPr id="53" name="Shape 44"/>
          <p:cNvSpPr/>
          <p:nvPr/>
        </p:nvSpPr>
        <p:spPr>
          <a:xfrm>
            <a:off x="6894576" y="2788920"/>
            <a:ext cx="2011680" cy="1691640"/>
          </a:xfrm>
          <a:prstGeom prst="rect">
            <a:avLst/>
          </a:prstGeom>
          <a:solidFill>
            <a:srgbClr val="F1F8E9"/>
          </a:solidFill>
          <a:ln w="7620">
            <a:solidFill>
              <a:srgbClr val="2E7D3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54" name="Shape 45"/>
          <p:cNvSpPr/>
          <p:nvPr/>
        </p:nvSpPr>
        <p:spPr>
          <a:xfrm>
            <a:off x="6894576" y="2788920"/>
            <a:ext cx="64008" cy="1691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5" name="Shape 46"/>
          <p:cNvSpPr/>
          <p:nvPr/>
        </p:nvSpPr>
        <p:spPr>
          <a:xfrm>
            <a:off x="7031736" y="2971800"/>
            <a:ext cx="548640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6" name="Text 47"/>
          <p:cNvSpPr/>
          <p:nvPr/>
        </p:nvSpPr>
        <p:spPr>
          <a:xfrm>
            <a:off x="7031736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08</a:t>
            </a:r>
            <a:endParaRPr lang="en-US" sz="1600" dirty="0"/>
          </a:p>
        </p:txBody>
      </p:sp>
      <p:sp>
        <p:nvSpPr>
          <p:cNvPr id="57" name="Text 48"/>
          <p:cNvSpPr/>
          <p:nvPr/>
        </p:nvSpPr>
        <p:spPr>
          <a:xfrm>
            <a:off x="7671816" y="3017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總結與行動呼籲</a:t>
            </a:r>
            <a:endParaRPr lang="en-US" sz="1300" dirty="0"/>
          </a:p>
        </p:txBody>
      </p:sp>
      <p:sp>
        <p:nvSpPr>
          <p:cNvPr id="58" name="Text 49"/>
          <p:cNvSpPr/>
          <p:nvPr/>
        </p:nvSpPr>
        <p:spPr>
          <a:xfrm>
            <a:off x="7671816" y="34472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p. 23</a:t>
            </a:r>
            <a:endParaRPr lang="en-US" sz="1000" dirty="0"/>
          </a:p>
        </p:txBody>
      </p:sp>
      <p:pic>
        <p:nvPicPr>
          <p:cNvPr id="5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6096" y="3703320"/>
            <a:ext cx="640080" cy="640080"/>
          </a:xfrm>
          <a:prstGeom prst="rect">
            <a:avLst/>
          </a:prstGeom>
        </p:spPr>
      </p:pic>
      <p:sp>
        <p:nvSpPr>
          <p:cNvPr id="60" name="Shape 5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>
              <a:alpha val="8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1" name="Text 5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SSD 在 ESG 中的應用  ·  專業報告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5E20"/>
                </a:solidFill>
              </a:rPr>
              <a:t>ESG 是什麼？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99032" cy="274320"/>
          </a:xfrm>
          <a:prstGeom prst="rect">
            <a:avLst/>
          </a:prstGeom>
          <a:solidFill>
            <a:srgbClr val="2E7D32">
              <a:alpha val="12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8229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企業永續的三大支柱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887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想像：一個人只顧賺錢、不管健康、忽略家人——你會信任他嗎？企業也是一樣的道理。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2651760" cy="2514600"/>
          </a:xfrm>
          <a:prstGeom prst="rect">
            <a:avLst/>
          </a:prstGeom>
          <a:solidFill>
            <a:srgbClr val="F1F8E9"/>
          </a:solidFill>
          <a:ln w="7620">
            <a:solidFill>
              <a:srgbClr val="2E7D3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03120"/>
            <a:ext cx="64008" cy="25146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25880" y="2240280"/>
            <a:ext cx="914400" cy="914400"/>
          </a:xfrm>
          <a:prstGeom prst="ellipse">
            <a:avLst/>
          </a:prstGeom>
          <a:solidFill>
            <a:srgbClr val="2E7D32">
              <a:alpha val="12000"/>
            </a:srgbClr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377440"/>
            <a:ext cx="640080" cy="6400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143000" y="3246120"/>
            <a:ext cx="1280160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43000" y="3246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57200" y="37033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32"/>
                </a:solidFill>
              </a:rPr>
              <a:t>環境保護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7200" y="40050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Environmental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94360" y="4206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減少環境負擔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節能減碳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保護自然生態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91840" y="2103120"/>
            <a:ext cx="2651760" cy="2514600"/>
          </a:xfrm>
          <a:prstGeom prst="rect">
            <a:avLst/>
          </a:prstGeom>
          <a:solidFill>
            <a:srgbClr val="F1F8E9"/>
          </a:solidFill>
          <a:ln w="7620">
            <a:solidFill>
              <a:srgbClr val="00838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91840" y="2103120"/>
            <a:ext cx="64008" cy="25146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160520" y="2240280"/>
            <a:ext cx="914400" cy="914400"/>
          </a:xfrm>
          <a:prstGeom prst="ellipse">
            <a:avLst/>
          </a:prstGeom>
          <a:solidFill>
            <a:srgbClr val="00838F">
              <a:alpha val="12000"/>
            </a:srgbClr>
          </a:solidFill>
          <a:ln w="12700">
            <a:solidFill>
              <a:srgbClr val="00838F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377440"/>
            <a:ext cx="640080" cy="64008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3977640" y="3246120"/>
            <a:ext cx="1280160" cy="3657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977640" y="3246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3291840" y="37033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838F"/>
                </a:solidFill>
              </a:rPr>
              <a:t>社會責任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3291840" y="40050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Social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429000" y="4206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善待員工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回饋社區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尊重人權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126480" y="2103120"/>
            <a:ext cx="2651760" cy="2514600"/>
          </a:xfrm>
          <a:prstGeom prst="rect">
            <a:avLst/>
          </a:prstGeom>
          <a:solidFill>
            <a:srgbClr val="F1F8E9"/>
          </a:solidFill>
          <a:ln w="7620">
            <a:solidFill>
              <a:srgbClr val="1B5E2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126480" y="2103120"/>
            <a:ext cx="64008" cy="25146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995160" y="2240280"/>
            <a:ext cx="914400" cy="914400"/>
          </a:xfrm>
          <a:prstGeom prst="ellipse">
            <a:avLst/>
          </a:prstGeom>
          <a:solidFill>
            <a:srgbClr val="1B5E20">
              <a:alpha val="12000"/>
            </a:srgbClr>
          </a:solidFill>
          <a:ln w="12700">
            <a:solidFill>
              <a:srgbClr val="1B5E20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377440"/>
            <a:ext cx="640080" cy="64008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6812280" y="3246120"/>
            <a:ext cx="1280160" cy="3657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812280" y="3246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</a:t>
            </a:r>
            <a:endParaRPr lang="en-US" sz="1800" dirty="0"/>
          </a:p>
        </p:txBody>
      </p:sp>
      <p:sp>
        <p:nvSpPr>
          <p:cNvPr id="32" name="Text 27"/>
          <p:cNvSpPr/>
          <p:nvPr/>
        </p:nvSpPr>
        <p:spPr>
          <a:xfrm>
            <a:off x="6126480" y="37033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20"/>
                </a:solidFill>
              </a:rPr>
              <a:t>公司治理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6126480" y="40050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Governance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6263640" y="4206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透明營運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誠實報告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防腐與內線防範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>
              <a:alpha val="8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SSD 在 ESG 中的應用  ·  專業報告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838F"/>
                </a:solidFill>
              </a:rPr>
              <a:t>ESG 趨勢：為何現在是關鍵時刻？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99032" cy="274320"/>
          </a:xfrm>
          <a:prstGeom prst="rect">
            <a:avLst/>
          </a:prstGeom>
          <a:solidFill>
            <a:srgbClr val="00838F">
              <a:alpha val="12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8229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838F"/>
                </a:solidFill>
              </a:rPr>
              <a:t>全球趨勢與監管壓力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011680" cy="1325880"/>
          </a:xfrm>
          <a:prstGeom prst="rect">
            <a:avLst/>
          </a:prstGeom>
          <a:solidFill>
            <a:srgbClr val="00838F">
              <a:alpha val="90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07592"/>
            <a:ext cx="2011680" cy="8220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838F"/>
                </a:solidFill>
              </a:rPr>
              <a:t>38 兆美元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65760" y="2003450"/>
            <a:ext cx="201168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全球 ESG 資產規模（2025）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633472"/>
            <a:ext cx="731520" cy="7315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542032" y="1234440"/>
            <a:ext cx="2011680" cy="1325880"/>
          </a:xfrm>
          <a:prstGeom prst="rect">
            <a:avLst/>
          </a:prstGeom>
          <a:solidFill>
            <a:srgbClr val="2E7D32">
              <a:alpha val="9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42032" y="1307592"/>
            <a:ext cx="2011680" cy="8220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E7D32"/>
                </a:solidFill>
              </a:rPr>
              <a:t>92%</a:t>
            </a:r>
            <a:endParaRPr lang="en-US" sz="4200" dirty="0"/>
          </a:p>
        </p:txBody>
      </p:sp>
      <p:sp>
        <p:nvSpPr>
          <p:cNvPr id="12" name="Text 9"/>
          <p:cNvSpPr/>
          <p:nvPr/>
        </p:nvSpPr>
        <p:spPr>
          <a:xfrm>
            <a:off x="2542032" y="2003450"/>
            <a:ext cx="201168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S&amp;P 500 企業已發布 ESG 報告</a:t>
            </a:r>
            <a:endParaRPr lang="en-US" sz="1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2633472"/>
            <a:ext cx="731520" cy="7315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718304" y="1234440"/>
            <a:ext cx="2011680" cy="1325880"/>
          </a:xfrm>
          <a:prstGeom prst="rect">
            <a:avLst/>
          </a:prstGeom>
          <a:solidFill>
            <a:srgbClr val="1B5E20">
              <a:alpha val="90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18304" y="1307592"/>
            <a:ext cx="2011680" cy="8220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B5E20"/>
                </a:solidFill>
              </a:rPr>
              <a:t>2026</a:t>
            </a:r>
            <a:endParaRPr lang="en-US" sz="4200" dirty="0"/>
          </a:p>
        </p:txBody>
      </p:sp>
      <p:sp>
        <p:nvSpPr>
          <p:cNvPr id="16" name="Text 12"/>
          <p:cNvSpPr/>
          <p:nvPr/>
        </p:nvSpPr>
        <p:spPr>
          <a:xfrm>
            <a:off x="4718304" y="2003450"/>
            <a:ext cx="201168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台灣上市櫃公司強制碳揭露</a:t>
            </a:r>
            <a:endParaRPr lang="en-US" sz="11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2633472"/>
            <a:ext cx="731520" cy="73152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894576" y="1234440"/>
            <a:ext cx="2011680" cy="1325880"/>
          </a:xfrm>
          <a:prstGeom prst="rect">
            <a:avLst/>
          </a:prstGeom>
          <a:solidFill>
            <a:srgbClr val="00897B">
              <a:alpha val="9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894576" y="1307592"/>
            <a:ext cx="2011680" cy="8220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897B"/>
                </a:solidFill>
              </a:rPr>
              <a:t>2030</a:t>
            </a:r>
            <a:endParaRPr lang="en-US" sz="4200" dirty="0"/>
          </a:p>
        </p:txBody>
      </p:sp>
      <p:sp>
        <p:nvSpPr>
          <p:cNvPr id="20" name="Text 15"/>
          <p:cNvSpPr/>
          <p:nvPr/>
        </p:nvSpPr>
        <p:spPr>
          <a:xfrm>
            <a:off x="6894576" y="2003450"/>
            <a:ext cx="201168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淨零排放目標截止年</a:t>
            </a:r>
            <a:endParaRPr lang="en-US" sz="11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2633472"/>
            <a:ext cx="731520" cy="73152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365760" y="3520440"/>
            <a:ext cx="2743200" cy="1188720"/>
          </a:xfrm>
          <a:prstGeom prst="rect">
            <a:avLst/>
          </a:prstGeom>
          <a:solidFill>
            <a:srgbClr val="F1F8E9"/>
          </a:solidFill>
          <a:ln w="7620">
            <a:solidFill>
              <a:srgbClr val="00838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365760" y="3520440"/>
            <a:ext cx="64008" cy="11887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639312"/>
            <a:ext cx="502920" cy="5029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51560" y="36576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838F"/>
                </a:solidFill>
              </a:rPr>
              <a:t>投資人壓力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502920" y="418795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主權基金、退休基金要求被投資企業提出具體減碳路徑，否則退出持股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3246120" y="3520440"/>
            <a:ext cx="2743200" cy="1188720"/>
          </a:xfrm>
          <a:prstGeom prst="rect">
            <a:avLst/>
          </a:prstGeom>
          <a:solidFill>
            <a:srgbClr val="F1F8E9"/>
          </a:solidFill>
          <a:ln w="7620">
            <a:solidFill>
              <a:srgbClr val="2E7D3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3246120" y="3520440"/>
            <a:ext cx="64008" cy="1188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3639312"/>
            <a:ext cx="502920" cy="5029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931920" y="36576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法規強制揭露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3383280" y="418795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台灣金管會規定 2026 年起上市櫃公司需依 TCFD 框架揭露氣候風險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6126480" y="3520440"/>
            <a:ext cx="2743200" cy="1188720"/>
          </a:xfrm>
          <a:prstGeom prst="rect">
            <a:avLst/>
          </a:prstGeom>
          <a:solidFill>
            <a:srgbClr val="F1F8E9"/>
          </a:solidFill>
          <a:ln w="7620">
            <a:solidFill>
              <a:srgbClr val="1B5E2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6126480" y="3520440"/>
            <a:ext cx="64008" cy="11887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3639312"/>
            <a:ext cx="502920" cy="50292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812280" y="36576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5E20"/>
                </a:solidFill>
              </a:rPr>
              <a:t>供應鏈要求</a:t>
            </a:r>
            <a:endParaRPr lang="en-US" sz="1200" dirty="0"/>
          </a:p>
        </p:txBody>
      </p:sp>
      <p:sp>
        <p:nvSpPr>
          <p:cNvPr id="36" name="Text 27"/>
          <p:cNvSpPr/>
          <p:nvPr/>
        </p:nvSpPr>
        <p:spPr>
          <a:xfrm>
            <a:off x="6263640" y="418795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國際品牌商要求供應鏈夥伴提供碳足跡資料，SSD 採購已納入審查指標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>
              <a:alpha val="8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SSD 在 ESG 中的應用  ·  專業報告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695C"/>
                </a:solidFill>
              </a:rPr>
              <a:t>SSD 是什麼？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944368" cy="274320"/>
          </a:xfrm>
          <a:prstGeom prst="rect">
            <a:avLst/>
          </a:prstGeom>
          <a:solidFill>
            <a:srgbClr val="00695C">
              <a:alpha val="12000"/>
            </a:srgbClr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822960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695C"/>
                </a:solidFill>
              </a:rPr>
              <a:t>固態硬碟 Solid-State Drive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20040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40480" y="1188720"/>
            <a:ext cx="4846320" cy="100584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23360" y="12344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SSD 是一種以 NAND 快閃記憶體儲存資料的裝置，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無機械零件，讀寫速度快、耗電低、發熱少、壽命長。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24231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297680" y="2377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B1C"/>
                </a:solidFill>
              </a:rPr>
              <a:t>NAND Flash 記憶體顆粒（NAND Cells）儲存資料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42316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720840" y="2377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B1C"/>
                </a:solidFill>
              </a:rPr>
              <a:t>無馬達、無轉盤、無讀寫頭——純電子訊號運作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3227832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297680" y="318211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B1C"/>
                </a:solidFill>
              </a:rPr>
              <a:t>可在寬溫範圍（-40°C ~ 85°C）正常運作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3227832"/>
            <a:ext cx="365760" cy="3657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720840" y="318211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B1C"/>
                </a:solidFill>
              </a:rPr>
              <a:t>具備硬體加密功能（AES-256），保障資料安全</a:t>
            </a:r>
            <a:endParaRPr lang="en-US" sz="10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0" y="4032504"/>
            <a:ext cx="365760" cy="36576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297680" y="3986784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B1C"/>
                </a:solidFill>
              </a:rPr>
              <a:t>讀寫速度可達 7,000 MB/s（PCIe Gen5 SSD）</a:t>
            </a:r>
            <a:endParaRPr lang="en-US" sz="10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4032504"/>
            <a:ext cx="365760" cy="36576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720840" y="3986784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B1C"/>
                </a:solidFill>
              </a:rPr>
              <a:t>使用壽命可達 5 年以上，平均無故障時間（MTBF）達 200 萬小時</a:t>
            </a:r>
            <a:endParaRPr lang="en-US" sz="1050" dirty="0"/>
          </a:p>
        </p:txBody>
      </p:sp>
      <p:sp>
        <p:nvSpPr>
          <p:cNvPr id="21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>
              <a:alpha val="8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2" name="Text 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SSD 在 ESG 中的應用  ·  專業報告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5E20"/>
                </a:solidFill>
              </a:rPr>
              <a:t>SSD 在資料中心的角色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825496" cy="274320"/>
          </a:xfrm>
          <a:prstGeom prst="rect">
            <a:avLst/>
          </a:prstGeom>
          <a:solidFill>
            <a:srgbClr val="1B5E20">
              <a:alpha val="12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822960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5E20"/>
                </a:solidFill>
              </a:rPr>
              <a:t>資料中心是 SSD ESG 價值的核心場景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114800" cy="3291840"/>
          </a:xfrm>
          <a:prstGeom prst="rect">
            <a:avLst/>
          </a:prstGeom>
          <a:solidFill>
            <a:srgbClr val="1B5E20">
              <a:alpha val="4000"/>
            </a:srgbClr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61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資料中心硬體組成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182880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 w="508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09928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07008" y="1600200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B1C"/>
                </a:solidFill>
              </a:rPr>
              <a:t>伺服器 Server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560320" y="1600200"/>
            <a:ext cx="182880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 w="508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472" y="1709928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18688" y="1600200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B1C"/>
                </a:solidFill>
              </a:rPr>
              <a:t>儲存系統 Storage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2651760"/>
            <a:ext cx="182880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 w="508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761488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07008" y="2651760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B1C"/>
                </a:solidFill>
              </a:rPr>
              <a:t>網路設備 Network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2560320" y="2651760"/>
            <a:ext cx="182880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 w="508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472" y="2761488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218688" y="2651760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B1C"/>
                </a:solidFill>
              </a:rPr>
              <a:t>冷卻系統 Cooling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48640" y="3703320"/>
            <a:ext cx="182880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 w="508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813048"/>
            <a:ext cx="548640" cy="5486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07008" y="3703320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B1C"/>
                </a:solidFill>
              </a:rPr>
              <a:t>供電系統 Power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2560320" y="3703320"/>
            <a:ext cx="1828800" cy="8686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3472" y="3813048"/>
            <a:ext cx="548640" cy="5486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218688" y="3703320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SSD ★ 核心儲存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4754880" y="1234440"/>
            <a:ext cx="3931920" cy="749808"/>
          </a:xfrm>
          <a:prstGeom prst="rect">
            <a:avLst/>
          </a:prstGeom>
          <a:solidFill>
            <a:srgbClr val="F9A825">
              <a:alpha val="10000"/>
            </a:srgbClr>
          </a:solidFill>
          <a:ln w="5080">
            <a:solidFill>
              <a:srgbClr val="F9A825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1325880"/>
            <a:ext cx="502920" cy="50292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440680" y="123444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9A825"/>
                </a:solidFill>
              </a:rPr>
              <a:t>SSD 是資料中心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9A825"/>
                </a:solidFill>
              </a:rPr>
              <a:t>能耗優化的關鍵起點</a:t>
            </a:r>
            <a:endParaRPr lang="en-US" sz="1100" dirty="0"/>
          </a:p>
        </p:txBody>
      </p:sp>
      <p:sp>
        <p:nvSpPr>
          <p:cNvPr id="29" name="Shape 20"/>
          <p:cNvSpPr/>
          <p:nvPr/>
        </p:nvSpPr>
        <p:spPr>
          <a:xfrm>
            <a:off x="4754880" y="2103120"/>
            <a:ext cx="3931920" cy="749808"/>
          </a:xfrm>
          <a:prstGeom prst="rect">
            <a:avLst/>
          </a:prstGeom>
          <a:solidFill>
            <a:srgbClr val="00838F">
              <a:alpha val="10000"/>
            </a:srgbClr>
          </a:solidFill>
          <a:ln w="5080">
            <a:solidFill>
              <a:srgbClr val="00838F"/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2194560"/>
            <a:ext cx="502920" cy="50292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440680" y="210312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838F"/>
                </a:solidFill>
              </a:rPr>
              <a:t>降低冷卻需求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00838F"/>
                </a:solidFill>
              </a:rPr>
              <a:t>減少熱島效應</a:t>
            </a:r>
            <a:endParaRPr lang="en-US" sz="1100" dirty="0"/>
          </a:p>
        </p:txBody>
      </p:sp>
      <p:sp>
        <p:nvSpPr>
          <p:cNvPr id="32" name="Shape 22"/>
          <p:cNvSpPr/>
          <p:nvPr/>
        </p:nvSpPr>
        <p:spPr>
          <a:xfrm>
            <a:off x="4754880" y="2971800"/>
            <a:ext cx="3931920" cy="749808"/>
          </a:xfrm>
          <a:prstGeom prst="rect">
            <a:avLst/>
          </a:prstGeom>
          <a:solidFill>
            <a:srgbClr val="00897B">
              <a:alpha val="10000"/>
            </a:srgbClr>
          </a:solidFill>
          <a:ln w="5080">
            <a:solidFill>
              <a:srgbClr val="00897B"/>
            </a:solidFill>
            <a:prstDash val="solid"/>
          </a:ln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3063240"/>
            <a:ext cx="502920" cy="50292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5440680" y="297180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897B"/>
                </a:solidFill>
              </a:rPr>
              <a:t>延長硬體壽命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00897B"/>
                </a:solidFill>
              </a:rPr>
              <a:t>減少電子廢棄物</a:t>
            </a:r>
            <a:endParaRPr lang="en-US" sz="1100" dirty="0"/>
          </a:p>
        </p:txBody>
      </p:sp>
      <p:sp>
        <p:nvSpPr>
          <p:cNvPr id="35" name="Shape 24"/>
          <p:cNvSpPr/>
          <p:nvPr/>
        </p:nvSpPr>
        <p:spPr>
          <a:xfrm>
            <a:off x="4754880" y="3840480"/>
            <a:ext cx="3931920" cy="749808"/>
          </a:xfrm>
          <a:prstGeom prst="rect">
            <a:avLst/>
          </a:prstGeom>
          <a:solidFill>
            <a:srgbClr val="2E7D32">
              <a:alpha val="10000"/>
            </a:srgbClr>
          </a:solidFill>
          <a:ln w="5080">
            <a:solidFill>
              <a:srgbClr val="2E7D32"/>
            </a:solidFill>
            <a:prstDash val="solid"/>
          </a:ln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0" y="3931920"/>
            <a:ext cx="502920" cy="50292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5440680" y="384048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提升效能支撐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AI 分析與合規</a:t>
            </a:r>
            <a:endParaRPr lang="en-US" sz="1100" dirty="0"/>
          </a:p>
        </p:txBody>
      </p:sp>
      <p:sp>
        <p:nvSpPr>
          <p:cNvPr id="38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>
              <a:alpha val="8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9" name="Text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SSD 在 ESG 中的應用  ·  專業報告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50292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897B"/>
                </a:solidFill>
              </a:rPr>
              <a:t>環境保護：能源效率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2825496" cy="274320"/>
          </a:xfrm>
          <a:prstGeom prst="rect">
            <a:avLst/>
          </a:prstGeom>
          <a:solidFill>
            <a:srgbClr val="00897B">
              <a:alpha val="12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822960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897B"/>
                </a:solidFill>
              </a:rPr>
              <a:t>能源效率是 SSD 最顯著的 ESG 貢獻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56032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32918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能耗項目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傳統 HDD 陣列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SSD 方案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 TB 讀取能耗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46E7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8.5 瓦特小時（Wh/TB）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897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1.2 瓦特小時（Wh/TB）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閒置功耗（W）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46E7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7~10W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897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0.5~3W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平均功耗（W）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46E7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5~8W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897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2~4W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每日耗電（kWh/年）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46E7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22~32 kWh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897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8~15 kWh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B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節能幅度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46E7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基準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897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節省 55~70%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886200"/>
            <a:ext cx="8229600" cy="822960"/>
          </a:xfrm>
          <a:prstGeom prst="rect">
            <a:avLst/>
          </a:prstGeom>
          <a:solidFill>
            <a:srgbClr val="00897B">
              <a:alpha val="8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3886200"/>
            <a:ext cx="64008" cy="8229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38862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897B"/>
                </a:solidFill>
              </a:rPr>
              <a:t>💡 關鍵洞察：HDD 需要馬達持續旋轉，SSD 完全靠電子訊號——這是功耗差異的根本原因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>
              <a:alpha val="8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SSD 在 ESG 中的應用  ·  專業報告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50292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7D32"/>
                </a:solidFill>
              </a:rPr>
              <a:t>環境保護：碳減排量化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1636776" cy="274320"/>
          </a:xfrm>
          <a:prstGeom prst="rect">
            <a:avLst/>
          </a:prstGeom>
          <a:solidFill>
            <a:srgbClr val="2E7D32">
              <a:alpha val="12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822960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把節電轉化為碳減排數字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2011680" cy="1417320"/>
          </a:xfrm>
          <a:prstGeom prst="rect">
            <a:avLst/>
          </a:prstGeom>
          <a:solidFill>
            <a:srgbClr val="2E7D32">
              <a:alpha val="9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61872"/>
            <a:ext cx="2011680" cy="8787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E7D32"/>
                </a:solidFill>
              </a:rPr>
              <a:t>68%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65760" y="2010766"/>
            <a:ext cx="20116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一個 1,000 台伺服器資料中心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全面 SSD 化後的碳減排幅度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42032" y="1188720"/>
            <a:ext cx="2011680" cy="1417320"/>
          </a:xfrm>
          <a:prstGeom prst="rect">
            <a:avLst/>
          </a:prstGeom>
          <a:solidFill>
            <a:srgbClr val="00838F">
              <a:alpha val="90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1261872"/>
            <a:ext cx="2011680" cy="8787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838F"/>
                </a:solidFill>
              </a:rPr>
              <a:t>1,200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2542032" y="2010766"/>
            <a:ext cx="20116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噸 CO₂e / 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（中型資料中心實測數據）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18304" y="1188720"/>
            <a:ext cx="2011680" cy="1417320"/>
          </a:xfrm>
          <a:prstGeom prst="rect">
            <a:avLst/>
          </a:prstGeom>
          <a:solidFill>
            <a:srgbClr val="00897B">
              <a:alpha val="9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8304" y="1261872"/>
            <a:ext cx="2011680" cy="8787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897B"/>
                </a:solidFill>
              </a:rPr>
              <a:t>15–20%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4718304" y="2010766"/>
            <a:ext cx="20116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電力費用節省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（電費占資料中心營運成本 30–40%）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94576" y="1188720"/>
            <a:ext cx="2011680" cy="1417320"/>
          </a:xfrm>
          <a:prstGeom prst="rect">
            <a:avLst/>
          </a:prstGeom>
          <a:solidFill>
            <a:srgbClr val="F9A825">
              <a:alpha val="90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94576" y="1261872"/>
            <a:ext cx="2011680" cy="8787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9A825"/>
                </a:solidFill>
              </a:rPr>
              <a:t>ISO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9A825"/>
                </a:solidFill>
              </a:rPr>
              <a:t>50001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894576" y="2010766"/>
            <a:ext cx="20116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能源管理系統認證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可用 SSD 節能數據申請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743200"/>
            <a:ext cx="82296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743200"/>
            <a:ext cx="822960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74320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碳排放計算公式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2B1C"/>
                </a:solidFill>
              </a:rPr>
              <a:t>碳減排量（噸CO₂e）=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00400" y="32004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E7D32"/>
                </a:solidFill>
              </a:rPr>
              <a:t>節電量（kWh） × 电网排放因子（0.509 kgCO₂e/kWh）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3639312"/>
            <a:ext cx="7863840" cy="18288"/>
          </a:xfrm>
          <a:prstGeom prst="rect">
            <a:avLst/>
          </a:prstGeom>
          <a:solidFill>
            <a:srgbClr val="2E7D32">
              <a:alpha val="3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73075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B1C"/>
                </a:solidFill>
              </a:rPr>
              <a:t>案例：</a:t>
            </a:r>
            <a:pPr algn="l" indent="0" marL="0">
              <a:buNone/>
            </a:pPr>
            <a:r>
              <a:rPr lang="en-US" sz="1200" dirty="0">
                <a:solidFill>
                  <a:srgbClr val="1C2B1C"/>
                </a:solidFill>
              </a:rPr>
              <a:t>1,000 台伺服器全面 SSD 化後，每年節省電力 600,000 kWh，相當於減少 </a:t>
            </a:r>
            <a:pPr algn="l"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305 噸 CO₂e</a:t>
            </a:r>
            <a:pPr algn="l" indent="0" marL="0">
              <a:buNone/>
            </a:pPr>
            <a:r>
              <a:rPr lang="en-US" sz="1200" dirty="0">
                <a:solidFill>
                  <a:srgbClr val="1C2B1C"/>
                </a:solidFill>
              </a:rPr>
              <a:t>，等同於種植 </a:t>
            </a:r>
            <a:pPr algn="l" indent="0" marL="0">
              <a:buNone/>
            </a:pPr>
            <a:r>
              <a:rPr lang="en-US" sz="1200" b="1" dirty="0">
                <a:solidFill>
                  <a:srgbClr val="00897B"/>
                </a:solidFill>
              </a:rPr>
              <a:t>15,250 棵樹</a:t>
            </a:r>
            <a:pPr algn="l" indent="0" marL="0">
              <a:buNone/>
            </a:pPr>
            <a:r>
              <a:rPr lang="en-US" sz="1200" dirty="0">
                <a:solidFill>
                  <a:srgbClr val="1C2B1C"/>
                </a:solidFill>
              </a:rPr>
              <a:t>（以每棵樹每年吸碳 20kg 計算）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>
              <a:alpha val="8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SSD 在 ESG 中的應用  ·  專業報告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502920" cy="5029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838F"/>
                </a:solidFill>
              </a:rPr>
              <a:t>環境保護：散熱與溫控優化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1755648" cy="274320"/>
          </a:xfrm>
          <a:prstGeom prst="rect">
            <a:avLst/>
          </a:prstGeom>
          <a:solidFill>
            <a:srgbClr val="00838F">
              <a:alpha val="12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8229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838F"/>
                </a:solidFill>
              </a:rPr>
              <a:t>散熱是資料中心的隱性成本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200400" cy="3200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749040" y="1234440"/>
            <a:ext cx="4937760" cy="749808"/>
          </a:xfrm>
          <a:prstGeom prst="rect">
            <a:avLst/>
          </a:prstGeom>
          <a:solidFill>
            <a:srgbClr val="00838F">
              <a:alpha val="8000"/>
            </a:srgbClr>
          </a:solidFill>
          <a:ln w="5080">
            <a:solidFill>
              <a:srgbClr val="00838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34416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07408" y="1234440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838F"/>
                </a:solidFill>
              </a:rPr>
              <a:t>SSD 發熱量比 HDD 低 60~80%，機房無需大功率散熱設備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749040" y="2103120"/>
            <a:ext cx="4937760" cy="749808"/>
          </a:xfrm>
          <a:prstGeom prst="rect">
            <a:avLst/>
          </a:prstGeom>
          <a:solidFill>
            <a:srgbClr val="00897B">
              <a:alpha val="8000"/>
            </a:srgbClr>
          </a:solidFill>
          <a:ln w="5080">
            <a:solidFill>
              <a:srgbClr val="00897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2212848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07408" y="2103120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897B"/>
                </a:solidFill>
              </a:rPr>
              <a:t>冷卻系統（冷氣）耗電占資料中心總耗電 30~40%，SSD 直接降低這項負擔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749040" y="2971800"/>
            <a:ext cx="4937760" cy="749808"/>
          </a:xfrm>
          <a:prstGeom prst="rect">
            <a:avLst/>
          </a:prstGeom>
          <a:solidFill>
            <a:srgbClr val="F9A825">
              <a:alpha val="8000"/>
            </a:srgbClr>
          </a:solidFill>
          <a:ln w="5080">
            <a:solidFill>
              <a:srgbClr val="F9A825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3081528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07408" y="2971800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9A825"/>
                </a:solidFill>
              </a:rPr>
              <a:t>低溫環境 = 空調設定溫度可提高 = 額外節能 10~15%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3749040" y="3840480"/>
            <a:ext cx="4937760" cy="749808"/>
          </a:xfrm>
          <a:prstGeom prst="rect">
            <a:avLst/>
          </a:prstGeom>
          <a:solidFill>
            <a:srgbClr val="2E7D32">
              <a:alpha val="8000"/>
            </a:srgbClr>
          </a:solidFill>
          <a:ln w="5080">
            <a:solidFill>
              <a:srgbClr val="2E7D32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0" y="3950208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407408" y="3840480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E7D32"/>
                </a:solidFill>
              </a:rPr>
              <a:t>減少冷卻水使用量（液冷機房），降低水資源消耗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457200" y="4343400"/>
            <a:ext cx="8229600" cy="384048"/>
          </a:xfrm>
          <a:prstGeom prst="rect">
            <a:avLst/>
          </a:prstGeom>
          <a:solidFill>
            <a:srgbClr val="00838F">
              <a:alpha val="10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457200" y="4343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838F"/>
                </a:solidFill>
              </a:rPr>
              <a:t>📌 水資源節省：採用液冷（Liquid Cooling）的資料中心，SSD 可降低冷水需求達 40%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>
              <a:alpha val="8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SSD 在 ESG 中的應用  ·  專業報告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50292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897B"/>
                </a:solidFill>
              </a:rPr>
              <a:t>環境保護：電子廢棄物減量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2825496" cy="274320"/>
          </a:xfrm>
          <a:prstGeom prst="rect">
            <a:avLst/>
          </a:prstGeom>
          <a:solidFill>
            <a:srgbClr val="00897B">
              <a:alpha val="12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822960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897B"/>
                </a:solidFill>
              </a:rPr>
              <a:t>延長壽命 × 減少更換 = 減少電子廢棄物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2011680" cy="1325880"/>
          </a:xfrm>
          <a:prstGeom prst="rect">
            <a:avLst/>
          </a:prstGeom>
          <a:solidFill>
            <a:srgbClr val="00897B">
              <a:alpha val="9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61872"/>
            <a:ext cx="2011680" cy="8220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897B"/>
                </a:solidFill>
              </a:rPr>
              <a:t>3~5x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65760" y="1957730"/>
            <a:ext cx="201168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SSD 與 HDD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平均壽命對比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42032" y="1188720"/>
            <a:ext cx="2011680" cy="1325880"/>
          </a:xfrm>
          <a:prstGeom prst="rect">
            <a:avLst/>
          </a:prstGeom>
          <a:solidFill>
            <a:srgbClr val="00838F">
              <a:alpha val="90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1261872"/>
            <a:ext cx="2011680" cy="8220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838F"/>
                </a:solidFill>
              </a:rPr>
              <a:t>200萬+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2542032" y="1957730"/>
            <a:ext cx="201168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小時 MTBF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（平均無故障時間）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18304" y="1188720"/>
            <a:ext cx="2011680" cy="1325880"/>
          </a:xfrm>
          <a:prstGeom prst="rect">
            <a:avLst/>
          </a:prstGeom>
          <a:solidFill>
            <a:srgbClr val="2E7D32">
              <a:alpha val="9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8304" y="1261872"/>
            <a:ext cx="2011680" cy="8220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E7D32"/>
                </a:solidFill>
              </a:rPr>
              <a:t>30%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4718304" y="1957730"/>
            <a:ext cx="201168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降低硬體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更換頻率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94576" y="1188720"/>
            <a:ext cx="2011680" cy="1325880"/>
          </a:xfrm>
          <a:prstGeom prst="rect">
            <a:avLst/>
          </a:prstGeom>
          <a:solidFill>
            <a:srgbClr val="1B5E20">
              <a:alpha val="90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94576" y="1261872"/>
            <a:ext cx="2011680" cy="8220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B5E20"/>
                </a:solidFill>
              </a:rPr>
              <a:t>1.5kg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894576" y="1957730"/>
            <a:ext cx="201168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單顆 HDD 重量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含稀有金屬與PCB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651760"/>
            <a:ext cx="4023360" cy="20116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A825"/>
                </a:solidFill>
              </a:rPr>
              <a:t>全球電子廢棄物危機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3127248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每年約 </a:t>
            </a:r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5,000 萬噸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 電子廢棄物，全球僅 22.3% 被妥善回收（UN Global E-waste Monitor 2024）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HDD 含強迫馬達、稀有金屬（鈷、鉭）及磁性碟片，拆解處理成本高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延長 SSD 使用壽命可直接減少進入回收鏈的硬體數量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2651760"/>
            <a:ext cx="4023360" cy="2011680"/>
          </a:xfrm>
          <a:prstGeom prst="rect">
            <a:avLst/>
          </a:prstGeom>
          <a:solidFill>
            <a:srgbClr val="00897B">
              <a:alpha val="1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897B"/>
                </a:solidFill>
              </a:rPr>
              <a:t>SSD 的減廢策略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3127248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B1C"/>
                </a:solidFill>
              </a:rPr>
              <a:t>1. </a:t>
            </a:r>
            <a:pPr algn="l" indent="0" marL="0">
              <a:buNone/>
            </a:pPr>
            <a:r>
              <a:rPr lang="en-US" sz="1100" dirty="0">
                <a:solidFill>
                  <a:srgbClr val="1C2B1C"/>
                </a:solidFill>
              </a:rPr>
              <a:t>選擇高耐久性（DWPD≥1）SSD，延長使用週期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C2B1C"/>
                </a:solidFill>
              </a:rPr>
              <a:t>2. </a:t>
            </a:r>
            <a:pPr algn="l" indent="0" marL="0">
              <a:buNone/>
            </a:pPr>
            <a:r>
              <a:rPr lang="en-US" sz="1100" dirty="0">
                <a:solidFill>
                  <a:srgbClr val="1C2B1C"/>
                </a:solidFill>
              </a:rPr>
              <a:t>建立硬碟生命週期管理系統，及時遷移資料後下線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C2B1C"/>
                </a:solidFill>
              </a:rPr>
              <a:t>3. </a:t>
            </a:r>
            <a:pPr algn="l" indent="0" marL="0">
              <a:buNone/>
            </a:pPr>
            <a:r>
              <a:rPr lang="en-US" sz="1100" dirty="0">
                <a:solidFill>
                  <a:srgbClr val="1C2B1C"/>
                </a:solidFill>
              </a:rPr>
              <a:t>与製造商簽署回收合約，確保報廢後合規處理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C2B1C"/>
                </a:solidFill>
              </a:rPr>
              <a:t>4. </a:t>
            </a:r>
            <a:pPr algn="l" indent="0" marL="0">
              <a:buNone/>
            </a:pPr>
            <a:r>
              <a:rPr lang="en-US" sz="1100" dirty="0">
                <a:solidFill>
                  <a:srgbClr val="1C2B1C"/>
                </a:solidFill>
              </a:rPr>
              <a:t>將減廢量計入 ESG 報告 E（環境）章節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>
              <a:alpha val="8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SSD 在 ESG 中的應用  ·  專業報告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50292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7D32"/>
                </a:solidFill>
              </a:rPr>
              <a:t>環境保護：綠色資料中心認證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2468880" cy="274320"/>
          </a:xfrm>
          <a:prstGeom prst="rect">
            <a:avLst/>
          </a:prstGeom>
          <a:solidFill>
            <a:srgbClr val="2E7D32">
              <a:alpha val="12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82296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SSD 是取得綠色認證的基礎設施條件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4069080" cy="1691640"/>
          </a:xfrm>
          <a:prstGeom prst="rect">
            <a:avLst/>
          </a:prstGeom>
          <a:solidFill>
            <a:srgbClr val="F1F8E9"/>
          </a:solidFill>
          <a:ln w="7620">
            <a:solidFill>
              <a:srgbClr val="2E7D3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188720"/>
            <a:ext cx="64008" cy="1691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188720"/>
            <a:ext cx="4069080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45920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9728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LEED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02920" y="2103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B1C"/>
                </a:solidFill>
              </a:rPr>
              <a:t>Leadership in Energy and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C2B1C"/>
                </a:solidFill>
              </a:rPr>
              <a:t>Environmental Design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2920" y="2468880"/>
            <a:ext cx="3749040" cy="320040"/>
          </a:xfrm>
          <a:prstGeom prst="rect">
            <a:avLst/>
          </a:prstGeom>
          <a:solidFill>
            <a:srgbClr val="2E7D32">
              <a:alpha val="12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2468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關鍵效益：能耗降低 20~30%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63440" y="1188720"/>
            <a:ext cx="4069080" cy="1691640"/>
          </a:xfrm>
          <a:prstGeom prst="rect">
            <a:avLst/>
          </a:prstGeom>
          <a:solidFill>
            <a:srgbClr val="F1F8E9"/>
          </a:solidFill>
          <a:ln w="7620">
            <a:solidFill>
              <a:srgbClr val="00838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63440" y="1188720"/>
            <a:ext cx="64008" cy="16916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63440" y="1188720"/>
            <a:ext cx="4069080" cy="3657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645920"/>
            <a:ext cx="502920" cy="5029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9496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ISO 50001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4800600" y="2103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B1C"/>
                </a:solidFill>
              </a:rPr>
              <a:t>能源管理系統標準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800600" y="2468880"/>
            <a:ext cx="3749040" cy="320040"/>
          </a:xfrm>
          <a:prstGeom prst="rect">
            <a:avLst/>
          </a:prstGeom>
          <a:solidFill>
            <a:srgbClr val="00838F">
              <a:alpha val="12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892040" y="2468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838F"/>
                </a:solidFill>
              </a:rPr>
              <a:t>關鍵效益：年度能耗下降 5~15%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65760" y="3017520"/>
            <a:ext cx="4069080" cy="1691640"/>
          </a:xfrm>
          <a:prstGeom prst="rect">
            <a:avLst/>
          </a:prstGeom>
          <a:solidFill>
            <a:srgbClr val="F1F8E9"/>
          </a:solidFill>
          <a:ln w="7620">
            <a:solidFill>
              <a:srgbClr val="0089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65760" y="3017520"/>
            <a:ext cx="64008" cy="16916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365760" y="3017520"/>
            <a:ext cx="4069080" cy="3657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74720"/>
            <a:ext cx="502920" cy="5029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09728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ISO 14001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502920" y="3931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B1C"/>
                </a:solidFill>
              </a:rPr>
              <a:t>環境管理系統標準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502920" y="4297680"/>
            <a:ext cx="3749040" cy="320040"/>
          </a:xfrm>
          <a:prstGeom prst="rect">
            <a:avLst/>
          </a:prstGeom>
          <a:solidFill>
            <a:srgbClr val="00897B">
              <a:alpha val="12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94360" y="4297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897B"/>
                </a:solidFill>
              </a:rPr>
              <a:t>關鍵效益：廢棄物減少 10~20%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4663440" y="3017520"/>
            <a:ext cx="4069080" cy="1691640"/>
          </a:xfrm>
          <a:prstGeom prst="rect">
            <a:avLst/>
          </a:prstGeom>
          <a:solidFill>
            <a:srgbClr val="F1F8E9"/>
          </a:solidFill>
          <a:ln w="7620">
            <a:solidFill>
              <a:srgbClr val="1B5E2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4663440" y="3017520"/>
            <a:ext cx="64008" cy="16916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4663440" y="3017520"/>
            <a:ext cx="4069080" cy="3657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474720"/>
            <a:ext cx="502920" cy="50292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39496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TOS 50050</a:t>
            </a:r>
            <a:endParaRPr lang="en-US" sz="1600" dirty="0"/>
          </a:p>
        </p:txBody>
      </p:sp>
      <p:sp>
        <p:nvSpPr>
          <p:cNvPr id="37" name="Text 31"/>
          <p:cNvSpPr/>
          <p:nvPr/>
        </p:nvSpPr>
        <p:spPr>
          <a:xfrm>
            <a:off x="4800600" y="3931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B1C"/>
                </a:solidFill>
              </a:rPr>
              <a:t>歐洲绿色資料中心標準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4800600" y="4297680"/>
            <a:ext cx="3749040" cy="320040"/>
          </a:xfrm>
          <a:prstGeom prst="rect">
            <a:avLst/>
          </a:prstGeom>
          <a:solidFill>
            <a:srgbClr val="1B5E20">
              <a:alpha val="12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4892040" y="4297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5E20"/>
                </a:solidFill>
              </a:rPr>
              <a:t>關鍵效益：PUE ≤ 1.2 強制要求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>
              <a:alpha val="8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SSD 在 ESG 中的應用  ·  專業報告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5E20"/>
                </a:solidFill>
              </a:rPr>
              <a:t>E 總結：SSD 環境效益儀表板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706624" cy="274320"/>
          </a:xfrm>
          <a:prstGeom prst="rect">
            <a:avLst/>
          </a:prstGeom>
          <a:solidFill>
            <a:srgbClr val="1B5E20">
              <a:alpha val="12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82296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5E20"/>
                </a:solidFill>
              </a:rPr>
              <a:t>把 SSD 環保效益量化為 ESG 指標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FFFFFF"/>
          </a:solidFill>
          <a:ln w="5080">
            <a:solidFill>
              <a:srgbClr val="F9A82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6187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188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A825"/>
                </a:solidFill>
              </a:rPr>
              <a:t>能源消耗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108960" y="1188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100%（基準）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0" y="11887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46E7A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37760" y="1188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A825"/>
                </a:solidFill>
              </a:rPr>
              <a:t>30~45%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92240" y="1298448"/>
            <a:ext cx="2011680" cy="420624"/>
          </a:xfrm>
          <a:prstGeom prst="rect">
            <a:avLst/>
          </a:prstGeom>
          <a:solidFill>
            <a:srgbClr val="F9A825">
              <a:alpha val="85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92240" y="129844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A825"/>
                </a:solidFill>
              </a:rPr>
              <a:t>↓ 55~70%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1938528"/>
            <a:ext cx="8229600" cy="640080"/>
          </a:xfrm>
          <a:prstGeom prst="rect">
            <a:avLst/>
          </a:prstGeom>
          <a:solidFill>
            <a:srgbClr val="FFFFFF"/>
          </a:solidFill>
          <a:ln w="5080">
            <a:solidFill>
              <a:srgbClr val="2E7D32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1168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97280" y="193852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碳排放量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108960" y="193852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100%（基準）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572000" y="1938528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46E7A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937760" y="193852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28~38%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492240" y="2048256"/>
            <a:ext cx="2011680" cy="420624"/>
          </a:xfrm>
          <a:prstGeom prst="rect">
            <a:avLst/>
          </a:prstGeom>
          <a:solidFill>
            <a:srgbClr val="2E7D32">
              <a:alpha val="85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492240" y="204825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↓ 62~72%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57200" y="2688336"/>
            <a:ext cx="8229600" cy="640080"/>
          </a:xfrm>
          <a:prstGeom prst="rect">
            <a:avLst/>
          </a:prstGeom>
          <a:solidFill>
            <a:srgbClr val="FFFFFF"/>
          </a:solidFill>
          <a:ln w="5080">
            <a:solidFill>
              <a:srgbClr val="00838F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61488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97280" y="268833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838F"/>
                </a:solidFill>
              </a:rPr>
              <a:t>散熱設備能耗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3108960" y="2688336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100%（基準）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572000" y="2688336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46E7A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4937760" y="268833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38F"/>
                </a:solidFill>
              </a:rPr>
              <a:t>40~60%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6492240" y="2798064"/>
            <a:ext cx="2011680" cy="420624"/>
          </a:xfrm>
          <a:prstGeom prst="rect">
            <a:avLst/>
          </a:prstGeom>
          <a:solidFill>
            <a:srgbClr val="00838F">
              <a:alpha val="85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492240" y="279806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838F"/>
                </a:solidFill>
              </a:rPr>
              <a:t>↓ 40~60%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457200" y="3438144"/>
            <a:ext cx="8229600" cy="640080"/>
          </a:xfrm>
          <a:prstGeom prst="rect">
            <a:avLst/>
          </a:prstGeom>
          <a:solidFill>
            <a:srgbClr val="FFFFFF"/>
          </a:solidFill>
          <a:ln w="5080">
            <a:solidFill>
              <a:srgbClr val="00897B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511296"/>
            <a:ext cx="457200" cy="4572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097280" y="343814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897B"/>
                </a:solidFill>
              </a:rPr>
              <a:t>電子廢棄物產生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3108960" y="3438144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100%（基準）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4572000" y="3438144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46E7A"/>
                </a:solidFill>
              </a:rPr>
              <a:t>→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4937760" y="343814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97B"/>
                </a:solidFill>
              </a:rPr>
              <a:t>20~30%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6492240" y="3547872"/>
            <a:ext cx="2011680" cy="420624"/>
          </a:xfrm>
          <a:prstGeom prst="rect">
            <a:avLst/>
          </a:prstGeom>
          <a:solidFill>
            <a:srgbClr val="00897B">
              <a:alpha val="85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6492240" y="354787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897B"/>
                </a:solidFill>
              </a:rPr>
              <a:t>↓ 70~80%</a:t>
            </a:r>
            <a:endParaRPr lang="en-US" sz="1300" dirty="0"/>
          </a:p>
        </p:txBody>
      </p:sp>
      <p:sp>
        <p:nvSpPr>
          <p:cNvPr id="38" name="Shape 32"/>
          <p:cNvSpPr/>
          <p:nvPr/>
        </p:nvSpPr>
        <p:spPr>
          <a:xfrm>
            <a:off x="457200" y="4187952"/>
            <a:ext cx="8229600" cy="640080"/>
          </a:xfrm>
          <a:prstGeom prst="rect">
            <a:avLst/>
          </a:prstGeom>
          <a:solidFill>
            <a:srgbClr val="FFFFFF"/>
          </a:solidFill>
          <a:ln w="5080">
            <a:solidFill>
              <a:srgbClr val="1B5E20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261104"/>
            <a:ext cx="457200" cy="45720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1097280" y="418795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機房空間佔用</a:t>
            </a:r>
            <a:endParaRPr lang="en-US" sz="1300" dirty="0"/>
          </a:p>
        </p:txBody>
      </p:sp>
      <p:sp>
        <p:nvSpPr>
          <p:cNvPr id="41" name="Text 34"/>
          <p:cNvSpPr/>
          <p:nvPr/>
        </p:nvSpPr>
        <p:spPr>
          <a:xfrm>
            <a:off x="3108960" y="418795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100%（基準）</a:t>
            </a:r>
            <a:endParaRPr lang="en-US" sz="1100" dirty="0"/>
          </a:p>
        </p:txBody>
      </p:sp>
      <p:sp>
        <p:nvSpPr>
          <p:cNvPr id="42" name="Text 35"/>
          <p:cNvSpPr/>
          <p:nvPr/>
        </p:nvSpPr>
        <p:spPr>
          <a:xfrm>
            <a:off x="4572000" y="418795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46E7A"/>
                </a:solidFill>
              </a:rPr>
              <a:t>→</a:t>
            </a:r>
            <a:endParaRPr lang="en-US" sz="1400" dirty="0"/>
          </a:p>
        </p:txBody>
      </p:sp>
      <p:sp>
        <p:nvSpPr>
          <p:cNvPr id="43" name="Text 36"/>
          <p:cNvSpPr/>
          <p:nvPr/>
        </p:nvSpPr>
        <p:spPr>
          <a:xfrm>
            <a:off x="4937760" y="418795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E20"/>
                </a:solidFill>
              </a:rPr>
              <a:t>40~60%</a:t>
            </a:r>
            <a:endParaRPr lang="en-US" sz="1200" dirty="0"/>
          </a:p>
        </p:txBody>
      </p:sp>
      <p:sp>
        <p:nvSpPr>
          <p:cNvPr id="44" name="Shape 37"/>
          <p:cNvSpPr/>
          <p:nvPr/>
        </p:nvSpPr>
        <p:spPr>
          <a:xfrm>
            <a:off x="6492240" y="4297680"/>
            <a:ext cx="2011680" cy="420624"/>
          </a:xfrm>
          <a:prstGeom prst="rect">
            <a:avLst/>
          </a:prstGeom>
          <a:solidFill>
            <a:srgbClr val="1B5E20">
              <a:alpha val="85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6492240" y="429768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↓ 40~60%</a:t>
            </a:r>
            <a:endParaRPr lang="en-US" sz="1300" dirty="0"/>
          </a:p>
        </p:txBody>
      </p:sp>
      <p:sp>
        <p:nvSpPr>
          <p:cNvPr id="46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>
              <a:alpha val="8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SSD 在 ESG 中的應用  ·  專業報告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502920" cy="5029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695C"/>
                </a:solidFill>
              </a:rPr>
              <a:t>社會責任：SSD 的社會價值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2468880" cy="274320"/>
          </a:xfrm>
          <a:prstGeom prst="rect">
            <a:avLst/>
          </a:prstGeom>
          <a:solidFill>
            <a:srgbClr val="00695C">
              <a:alpha val="12000"/>
            </a:srgbClr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82296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695C"/>
                </a:solidFill>
              </a:rPr>
              <a:t>SSD 如何影響員工、社區與整體社會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4069080" cy="1737360"/>
          </a:xfrm>
          <a:prstGeom prst="rect">
            <a:avLst/>
          </a:prstGeom>
          <a:solidFill>
            <a:srgbClr val="F1F8E9"/>
          </a:solidFill>
          <a:ln w="7620">
            <a:solidFill>
              <a:srgbClr val="0069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188720"/>
            <a:ext cx="64008" cy="17373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371600"/>
            <a:ext cx="731520" cy="731520"/>
          </a:xfrm>
          <a:prstGeom prst="ellipse">
            <a:avLst/>
          </a:prstGeom>
          <a:solidFill>
            <a:srgbClr val="00695C">
              <a:alpha val="12000"/>
            </a:srgbClr>
          </a:solidFill>
          <a:ln w="12700">
            <a:solidFill>
              <a:srgbClr val="00695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490472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71600" y="14173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95C"/>
                </a:solidFill>
              </a:rPr>
              <a:t>提升工作環境可靠性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" y="214884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B1C"/>
                </a:solidFill>
              </a:rPr>
              <a:t>HDD 故障導致系統停機，工程師需深夜緊急修復；SSD 無機械故障，減少緊急出勤，降低工作壓力與職業傷害風險。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63440" y="1188720"/>
            <a:ext cx="4069080" cy="1737360"/>
          </a:xfrm>
          <a:prstGeom prst="rect">
            <a:avLst/>
          </a:prstGeom>
          <a:solidFill>
            <a:srgbClr val="F1F8E9"/>
          </a:solidFill>
          <a:ln w="7620">
            <a:solidFill>
              <a:srgbClr val="00838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1188720"/>
            <a:ext cx="64008" cy="17373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00600" y="1371600"/>
            <a:ext cx="731520" cy="731520"/>
          </a:xfrm>
          <a:prstGeom prst="ellipse">
            <a:avLst/>
          </a:prstGeom>
          <a:solidFill>
            <a:srgbClr val="00838F">
              <a:alpha val="12000"/>
            </a:srgbClr>
          </a:solidFill>
          <a:ln w="12700">
            <a:solidFill>
              <a:srgbClr val="00838F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490472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669280" y="14173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838F"/>
                </a:solidFill>
              </a:rPr>
              <a:t>支援偏鄉與偏遠地區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800600" y="214884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B1C"/>
                </a:solidFill>
              </a:rPr>
              <a:t>SSD 低功耗可搭配太陽能供電的偏鄉基地台與微型資料中心，支撑偏遠地區數位化與教育科技基礎設施。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365760" y="3063240"/>
            <a:ext cx="4069080" cy="1737360"/>
          </a:xfrm>
          <a:prstGeom prst="rect">
            <a:avLst/>
          </a:prstGeom>
          <a:solidFill>
            <a:srgbClr val="F1F8E9"/>
          </a:solidFill>
          <a:ln w="7620">
            <a:solidFill>
              <a:srgbClr val="2E7D3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65760" y="3063240"/>
            <a:ext cx="64008" cy="1737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02920" y="3246120"/>
            <a:ext cx="731520" cy="731520"/>
          </a:xfrm>
          <a:prstGeom prst="ellipse">
            <a:avLst/>
          </a:prstGeom>
          <a:solidFill>
            <a:srgbClr val="2E7D32">
              <a:alpha val="12000"/>
            </a:srgbClr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364992"/>
            <a:ext cx="502920" cy="5029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71600" y="32918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數位包容與教育公平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502920" y="40233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B1C"/>
                </a:solidFill>
              </a:rPr>
              <a:t>高效 SSD 讓低規格設備也能流暢運行，延長設備使用壽命，降低弱勢群體接觸數位科技的硬體成本障礙。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663440" y="3063240"/>
            <a:ext cx="4069080" cy="1737360"/>
          </a:xfrm>
          <a:prstGeom prst="rect">
            <a:avLst/>
          </a:prstGeom>
          <a:solidFill>
            <a:srgbClr val="F1F8E9"/>
          </a:solidFill>
          <a:ln w="7620">
            <a:solidFill>
              <a:srgbClr val="0089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663440" y="3063240"/>
            <a:ext cx="64008" cy="17373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800600" y="3246120"/>
            <a:ext cx="731520" cy="731520"/>
          </a:xfrm>
          <a:prstGeom prst="ellipse">
            <a:avLst/>
          </a:prstGeom>
          <a:solidFill>
            <a:srgbClr val="00897B">
              <a:alpha val="12000"/>
            </a:srgbClr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3364992"/>
            <a:ext cx="502920" cy="5029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669280" y="32918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897B"/>
                </a:solidFill>
              </a:rPr>
              <a:t>環境正義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4800600" y="40233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B1C"/>
                </a:solidFill>
              </a:rPr>
              <a:t>電子廢棄物多由開發中國家處理，SSD 延長壽命減少這類負擔，減少低收入社區承受的有毒物質暴露。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>
              <a:alpha val="8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SSD 在 ESG 中的應用  ·  專業報告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502920" cy="5029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838F"/>
                </a:solidFill>
              </a:rPr>
              <a:t>社會責任：資料韌性與員工福祉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2350008" cy="274320"/>
          </a:xfrm>
          <a:prstGeom prst="rect">
            <a:avLst/>
          </a:prstGeom>
          <a:solidFill>
            <a:srgbClr val="00838F">
              <a:alpha val="12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82296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838F"/>
                </a:solidFill>
              </a:rPr>
              <a:t>可靠儲存系統對員工身心靈的正向影響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4069080" cy="3337560"/>
          </a:xfrm>
          <a:prstGeom prst="rect">
            <a:avLst/>
          </a:prstGeom>
          <a:solidFill>
            <a:srgbClr val="F1F8E9"/>
          </a:solidFill>
          <a:ln w="762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188720"/>
            <a:ext cx="64008" cy="333756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74520" y="1371600"/>
            <a:ext cx="1005840" cy="1005840"/>
          </a:xfrm>
          <a:prstGeom prst="ellipse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1536192"/>
            <a:ext cx="640080" cy="6400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65760" y="24871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資料韌性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94360" y="288036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B1C"/>
                </a:solidFill>
              </a:rPr>
              <a:t>SSD 無機械讀寫頭，碰撞、震動、移动中仍可正常運作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B1C"/>
                </a:solidFill>
              </a:rPr>
              <a:t>不怕突然斷電，DRAM + 電容設計保護資料完整性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B1C"/>
                </a:solidFill>
              </a:rPr>
              <a:t>符合 HIPAA、GDPR、PCI-DSS 等資料保護法規要求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63440" y="1188720"/>
            <a:ext cx="4069080" cy="3337560"/>
          </a:xfrm>
          <a:prstGeom prst="rect">
            <a:avLst/>
          </a:prstGeom>
          <a:solidFill>
            <a:srgbClr val="F1F8E9"/>
          </a:solidFill>
          <a:ln w="762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1188720"/>
            <a:ext cx="64008" cy="333756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72200" y="1371600"/>
            <a:ext cx="1005840" cy="1005840"/>
          </a:xfrm>
          <a:prstGeom prst="ellipse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536192"/>
            <a:ext cx="640080" cy="6400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663440" y="24871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員工福祉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892040" y="288036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B1C"/>
                </a:solidFill>
              </a:rPr>
              <a:t>系統穩定度提升 → 減少緊急維修 → 工程師生活品質提升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B1C"/>
                </a:solidFill>
              </a:rPr>
              <a:t>SSD 故障率 &lt; 0.5%，遠低於 HDD 的 2~5%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B1C"/>
                </a:solidFill>
              </a:rPr>
              <a:t>資料可靠性提升減少客服和支援人員的客訴處理壓力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>
              <a:alpha val="8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SSD 在 ESG 中的應用  ·  專業報告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897B"/>
                </a:solidFill>
              </a:rPr>
              <a:t>S 總結：SSD 的社會影響力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231136" cy="274320"/>
          </a:xfrm>
          <a:prstGeom prst="rect">
            <a:avLst/>
          </a:prstGeom>
          <a:solidFill>
            <a:srgbClr val="00897B">
              <a:alpha val="12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822960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897B"/>
                </a:solidFill>
              </a:rPr>
              <a:t>SSD 對社會責任的四大貢獻維度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011680" cy="3291840"/>
          </a:xfrm>
          <a:prstGeom prst="rect">
            <a:avLst/>
          </a:prstGeom>
          <a:solidFill>
            <a:srgbClr val="00695C">
              <a:alpha val="6000"/>
            </a:srgbClr>
          </a:solidFill>
          <a:ln w="10160">
            <a:solidFill>
              <a:srgbClr val="0069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2011680" cy="3657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88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員工福祉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1691640"/>
            <a:ext cx="914400" cy="914400"/>
          </a:xfrm>
          <a:prstGeom prst="ellipse">
            <a:avLst/>
          </a:prstGeom>
          <a:solidFill>
            <a:srgbClr val="00695C">
              <a:alpha val="15000"/>
            </a:srgbClr>
          </a:solidFill>
          <a:ln w="12700">
            <a:solidFill>
              <a:srgbClr val="00695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828800"/>
            <a:ext cx="640080" cy="640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27432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695C"/>
                </a:solidFill>
              </a:rPr>
              <a:t>減少緊急出勤與職業壓力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611880"/>
            <a:ext cx="1828800" cy="777240"/>
          </a:xfrm>
          <a:prstGeom prst="rect">
            <a:avLst/>
          </a:prstGeom>
          <a:solidFill>
            <a:srgbClr val="00695C">
              <a:alpha val="10000"/>
            </a:srgbClr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36118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95C"/>
                </a:solidFill>
              </a:rPr>
              <a:t>故障率降低 80%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542032" y="1188720"/>
            <a:ext cx="2011680" cy="3291840"/>
          </a:xfrm>
          <a:prstGeom prst="rect">
            <a:avLst/>
          </a:prstGeom>
          <a:solidFill>
            <a:srgbClr val="00838F">
              <a:alpha val="6000"/>
            </a:srgbClr>
          </a:solidFill>
          <a:ln w="10160">
            <a:solidFill>
              <a:srgbClr val="00838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42032" y="1188720"/>
            <a:ext cx="2011680" cy="3657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542032" y="1188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數位包容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090672" y="1691640"/>
            <a:ext cx="914400" cy="914400"/>
          </a:xfrm>
          <a:prstGeom prst="ellipse">
            <a:avLst/>
          </a:prstGeom>
          <a:solidFill>
            <a:srgbClr val="00838F">
              <a:alpha val="15000"/>
            </a:srgbClr>
          </a:solidFill>
          <a:ln w="12700">
            <a:solidFill>
              <a:srgbClr val="00838F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832" y="1828800"/>
            <a:ext cx="640080" cy="6400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633472" y="27432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838F"/>
                </a:solidFill>
              </a:rPr>
              <a:t>延長低價設備使用壽命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633472" y="3611880"/>
            <a:ext cx="1828800" cy="777240"/>
          </a:xfrm>
          <a:prstGeom prst="rect">
            <a:avLst/>
          </a:prstGeom>
          <a:solidFill>
            <a:srgbClr val="00838F">
              <a:alpha val="10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633472" y="36118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38F"/>
                </a:solidFill>
              </a:rPr>
              <a:t>設備壽命延長 3~5年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718304" y="1188720"/>
            <a:ext cx="2011680" cy="3291840"/>
          </a:xfrm>
          <a:prstGeom prst="rect">
            <a:avLst/>
          </a:prstGeom>
          <a:solidFill>
            <a:srgbClr val="2E7D32">
              <a:alpha val="6000"/>
            </a:srgbClr>
          </a:solidFill>
          <a:ln w="10160">
            <a:solidFill>
              <a:srgbClr val="2E7D3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718304" y="1188720"/>
            <a:ext cx="2011680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718304" y="1188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環境正義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5266944" y="1691640"/>
            <a:ext cx="914400" cy="914400"/>
          </a:xfrm>
          <a:prstGeom prst="ellipse">
            <a:avLst/>
          </a:prstGeom>
          <a:solidFill>
            <a:srgbClr val="2E7D32">
              <a:alpha val="15000"/>
            </a:srgbClr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104" y="1828800"/>
            <a:ext cx="640080" cy="6400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809744" y="27432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7D32"/>
                </a:solidFill>
              </a:rPr>
              <a:t>減少有毒電子廢物流向弱勢地區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4809744" y="3611880"/>
            <a:ext cx="1828800" cy="777240"/>
          </a:xfrm>
          <a:prstGeom prst="rect">
            <a:avLst/>
          </a:prstGeom>
          <a:solidFill>
            <a:srgbClr val="2E7D32">
              <a:alpha val="1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809744" y="36118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廢棄物減少 70%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6894576" y="1188720"/>
            <a:ext cx="2011680" cy="3291840"/>
          </a:xfrm>
          <a:prstGeom prst="rect">
            <a:avLst/>
          </a:prstGeom>
          <a:solidFill>
            <a:srgbClr val="1B5E20">
              <a:alpha val="6000"/>
            </a:srgbClr>
          </a:solidFill>
          <a:ln w="10160">
            <a:solidFill>
              <a:srgbClr val="1B5E20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894576" y="1188720"/>
            <a:ext cx="2011680" cy="3657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894576" y="1188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資料安全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7443216" y="1691640"/>
            <a:ext cx="914400" cy="914400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0376" y="1828800"/>
            <a:ext cx="640080" cy="64008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986016" y="27432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符合國際資料保護法規要求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6986016" y="3611880"/>
            <a:ext cx="1828800" cy="777240"/>
          </a:xfrm>
          <a:prstGeom prst="rect">
            <a:avLst/>
          </a:prstGeom>
          <a:solidFill>
            <a:srgbClr val="1B5E20">
              <a:alpha val="10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6986016" y="36118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100% 合規覆蓋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>
              <a:alpha val="8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SSD 在 ESG 中的應用  ·  專業報告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502920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5E20"/>
                </a:solidFill>
              </a:rPr>
              <a:t>公司治理：SSD 與企業管治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3182112" cy="274320"/>
          </a:xfrm>
          <a:prstGeom prst="rect">
            <a:avLst/>
          </a:prstGeom>
          <a:solidFill>
            <a:srgbClr val="1B5E20">
              <a:alpha val="12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822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5E20"/>
                </a:solidFill>
              </a:rPr>
              <a:t>治理是 ESG 的基石，SSD 支撐資料驅動決策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4069080" cy="1737360"/>
          </a:xfrm>
          <a:prstGeom prst="rect">
            <a:avLst/>
          </a:prstGeom>
          <a:solidFill>
            <a:srgbClr val="F1F8E9"/>
          </a:solidFill>
          <a:ln w="7620">
            <a:solidFill>
              <a:srgbClr val="1B5E2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188720"/>
            <a:ext cx="64008" cy="17373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43000" y="14173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ESG 報告透明度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2920" y="1847088"/>
            <a:ext cx="379476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B1C"/>
                </a:solidFill>
              </a:rPr>
              <a:t>SSD 效能數據可直接量化計入環境指標</a:t>
            </a:r>
            <a:endParaRPr lang="en-US" sz="10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B1C"/>
                </a:solidFill>
              </a:rPr>
              <a:t>能源消耗、碳減排、設備更換率均有據可查</a:t>
            </a:r>
            <a:endParaRPr lang="en-US" sz="10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B1C"/>
                </a:solidFill>
              </a:rPr>
              <a:t>支撑 GRI 302（能源）、GRI 305（排放）指標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63440" y="1188720"/>
            <a:ext cx="4069080" cy="1737360"/>
          </a:xfrm>
          <a:prstGeom prst="rect">
            <a:avLst/>
          </a:prstGeom>
          <a:solidFill>
            <a:srgbClr val="F1F8E9"/>
          </a:solidFill>
          <a:ln w="7620">
            <a:solidFill>
              <a:srgbClr val="1B5E2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1188720"/>
            <a:ext cx="64008" cy="17373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71600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40680" y="14173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資料驅動決策品質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800600" y="1847088"/>
            <a:ext cx="379476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B1C"/>
                </a:solidFill>
              </a:rPr>
              <a:t>高速 SSD 支撐即時商業智慧（BI）分析</a:t>
            </a:r>
            <a:endParaRPr lang="en-US" sz="10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B1C"/>
                </a:solidFill>
              </a:rPr>
              <a:t>提升 ESG 數據收集與報告的時效性與準確性</a:t>
            </a:r>
            <a:endParaRPr lang="en-US" sz="10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B1C"/>
                </a:solidFill>
              </a:rPr>
              <a:t>支援 SAP、Oracle 等 ERP 與永續報告系統高效運行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65760" y="3063240"/>
            <a:ext cx="4069080" cy="1737360"/>
          </a:xfrm>
          <a:prstGeom prst="rect">
            <a:avLst/>
          </a:prstGeom>
          <a:solidFill>
            <a:srgbClr val="F1F8E9"/>
          </a:solidFill>
          <a:ln w="7620">
            <a:solidFill>
              <a:srgbClr val="1B5E2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65760" y="3063240"/>
            <a:ext cx="64008" cy="17373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4612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43000" y="32918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資料安全與合規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02920" y="3721608"/>
            <a:ext cx="379476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B1C"/>
                </a:solidFill>
              </a:rPr>
              <a:t>硬體級 AES-256 加密，防止資料外洩</a:t>
            </a:r>
            <a:endParaRPr lang="en-US" sz="10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B1C"/>
                </a:solidFill>
              </a:rPr>
              <a:t>符合 SOX、HIPAA、PCI-DSS、GDPR 等法規要求</a:t>
            </a:r>
            <a:endParaRPr lang="en-US" sz="10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B1C"/>
                </a:solidFill>
              </a:rPr>
              <a:t>SSD 的防寫保護（Write Protect）功能防止資料篡改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663440" y="3063240"/>
            <a:ext cx="4069080" cy="1737360"/>
          </a:xfrm>
          <a:prstGeom prst="rect">
            <a:avLst/>
          </a:prstGeom>
          <a:solidFill>
            <a:srgbClr val="F1F8E9"/>
          </a:solidFill>
          <a:ln w="7620">
            <a:solidFill>
              <a:srgbClr val="1B5E2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663440" y="3063240"/>
            <a:ext cx="64008" cy="17373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246120"/>
            <a:ext cx="548640" cy="5486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40680" y="32918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風險管理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4800600" y="3721608"/>
            <a:ext cx="379476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B1C"/>
                </a:solidFill>
              </a:rPr>
              <a:t>SSD 故障可預測（透過 SMART 監控），降低意外風險</a:t>
            </a:r>
            <a:endParaRPr lang="en-US" sz="10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B1C"/>
                </a:solidFill>
              </a:rPr>
              <a:t>減少因儲存故障導致的監管罰款與商譽損失</a:t>
            </a:r>
            <a:endParaRPr lang="en-US" sz="10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B1C"/>
                </a:solidFill>
              </a:rPr>
              <a:t>企業永續報告書更具公信力，降低投資人質疑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>
              <a:alpha val="8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SSD 在 ESG 中的應用  ·  專業報告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502920" cy="5029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695C"/>
                </a:solidFill>
              </a:rPr>
              <a:t>公司治理：合規框架與法規要求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2468880" cy="274320"/>
          </a:xfrm>
          <a:prstGeom prst="rect">
            <a:avLst/>
          </a:prstGeom>
          <a:solidFill>
            <a:srgbClr val="00695C">
              <a:alpha val="12000"/>
            </a:srgbClr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82296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695C"/>
                </a:solidFill>
              </a:rPr>
              <a:t>SSD 支撐的合規能力已成為基本要求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2697480" cy="1737360"/>
          </a:xfrm>
          <a:prstGeom prst="rect">
            <a:avLst/>
          </a:prstGeom>
          <a:solidFill>
            <a:srgbClr val="F1F8E9"/>
          </a:solidFill>
          <a:ln w="7620">
            <a:solidFill>
              <a:srgbClr val="0069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188720"/>
            <a:ext cx="64008" cy="17373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188720"/>
            <a:ext cx="2697480" cy="3474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1887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GRI 302 · 能源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16276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B1C"/>
                </a:solidFill>
              </a:rPr>
              <a:t>記錄組織能源消耗量（kWh）及節約措施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" y="2267712"/>
            <a:ext cx="2468880" cy="18288"/>
          </a:xfrm>
          <a:prstGeom prst="rect">
            <a:avLst/>
          </a:prstGeom>
          <a:solidFill>
            <a:srgbClr val="00695C">
              <a:alpha val="40000"/>
            </a:srgbClr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331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95C"/>
                </a:solidFill>
              </a:rPr>
              <a:t>SSD 可支援：SSD 耗電記錄可直接量化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1188720"/>
            <a:ext cx="2697480" cy="1737360"/>
          </a:xfrm>
          <a:prstGeom prst="rect">
            <a:avLst/>
          </a:prstGeom>
          <a:solidFill>
            <a:srgbClr val="F1F8E9"/>
          </a:solidFill>
          <a:ln w="7620">
            <a:solidFill>
              <a:srgbClr val="0069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188720"/>
            <a:ext cx="64008" cy="17373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1188720"/>
            <a:ext cx="2697480" cy="3474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11887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GRI 305 · 排放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0128" y="16276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B1C"/>
                </a:solidFill>
              </a:rPr>
              <a:t>溫室氣體排放量統計（範疇 2）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10128" y="2267712"/>
            <a:ext cx="2468880" cy="18288"/>
          </a:xfrm>
          <a:prstGeom prst="rect">
            <a:avLst/>
          </a:prstGeom>
          <a:solidFill>
            <a:srgbClr val="00695C">
              <a:alpha val="40000"/>
            </a:srgbClr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2331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95C"/>
                </a:solidFill>
              </a:rPr>
              <a:t>SSD 可支援：節電量可精確轉化為碳減排數據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35040" y="1188720"/>
            <a:ext cx="2697480" cy="1737360"/>
          </a:xfrm>
          <a:prstGeom prst="rect">
            <a:avLst/>
          </a:prstGeom>
          <a:solidFill>
            <a:srgbClr val="F1F8E9"/>
          </a:solidFill>
          <a:ln w="7620">
            <a:solidFill>
              <a:srgbClr val="0069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1188720"/>
            <a:ext cx="64008" cy="17373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1188720"/>
            <a:ext cx="2697480" cy="3474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11887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TCFD · 氣候相關財務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44768" y="16276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B1C"/>
                </a:solidFill>
              </a:rPr>
              <a:t>揭露氣候風險與機會對營運的影響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44768" y="2267712"/>
            <a:ext cx="2468880" cy="18288"/>
          </a:xfrm>
          <a:prstGeom prst="rect">
            <a:avLst/>
          </a:prstGeom>
          <a:solidFill>
            <a:srgbClr val="00695C">
              <a:alpha val="40000"/>
            </a:srgbClr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44768" y="2331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95C"/>
                </a:solidFill>
              </a:rPr>
              <a:t>SSD 可支援：SSD 能耗數據支撐氣候風險模型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063240"/>
            <a:ext cx="2697480" cy="1737360"/>
          </a:xfrm>
          <a:prstGeom prst="rect">
            <a:avLst/>
          </a:prstGeom>
          <a:solidFill>
            <a:srgbClr val="F1F8E9"/>
          </a:solidFill>
          <a:ln w="7620">
            <a:solidFill>
              <a:srgbClr val="0069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063240"/>
            <a:ext cx="64008" cy="17373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063240"/>
            <a:ext cx="2697480" cy="3474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0632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SASB · 永續會計標準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" y="350215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B1C"/>
                </a:solidFill>
              </a:rPr>
              <a:t>雲端與資料中心能耗披露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" y="4142232"/>
            <a:ext cx="2468880" cy="18288"/>
          </a:xfrm>
          <a:prstGeom prst="rect">
            <a:avLst/>
          </a:prstGeom>
          <a:solidFill>
            <a:srgbClr val="00695C">
              <a:alpha val="40000"/>
            </a:srgbClr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4206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95C"/>
                </a:solidFill>
              </a:rPr>
              <a:t>SSD 可支援：與主要雲端供應商攜手披露口徑一致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0" y="3063240"/>
            <a:ext cx="2697480" cy="1737360"/>
          </a:xfrm>
          <a:prstGeom prst="rect">
            <a:avLst/>
          </a:prstGeom>
          <a:solidFill>
            <a:srgbClr val="F1F8E9"/>
          </a:solidFill>
          <a:ln w="7620">
            <a:solidFill>
              <a:srgbClr val="0069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0" y="3063240"/>
            <a:ext cx="64008" cy="17373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3063240"/>
            <a:ext cx="2697480" cy="3474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0" y="30632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CDP · 碳揭露計劃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310128" y="350215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B1C"/>
                </a:solidFill>
              </a:rPr>
              <a:t>年度碳排放問卷調查（C8題組）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10128" y="4142232"/>
            <a:ext cx="2468880" cy="18288"/>
          </a:xfrm>
          <a:prstGeom prst="rect">
            <a:avLst/>
          </a:prstGeom>
          <a:solidFill>
            <a:srgbClr val="00695C">
              <a:alpha val="40000"/>
            </a:srgbClr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10128" y="4206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95C"/>
                </a:solidFill>
              </a:rPr>
              <a:t>SSD 可支援：提供資料中心用電詳細數據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035040" y="3063240"/>
            <a:ext cx="2697480" cy="1737360"/>
          </a:xfrm>
          <a:prstGeom prst="rect">
            <a:avLst/>
          </a:prstGeom>
          <a:solidFill>
            <a:srgbClr val="F1F8E9"/>
          </a:solidFill>
          <a:ln w="7620">
            <a:solidFill>
              <a:srgbClr val="0069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035040" y="3063240"/>
            <a:ext cx="64008" cy="17373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3063240"/>
            <a:ext cx="2697480" cy="3474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35040" y="30632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EU CSRD · 歐洲企業永續指令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144768" y="350215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B1C"/>
                </a:solidFill>
              </a:rPr>
              <a:t>2025 年起大型企業強制申報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144768" y="4142232"/>
            <a:ext cx="2468880" cy="18288"/>
          </a:xfrm>
          <a:prstGeom prst="rect">
            <a:avLst/>
          </a:prstGeom>
          <a:solidFill>
            <a:srgbClr val="00695C">
              <a:alpha val="40000"/>
            </a:srgbClr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44768" y="4206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95C"/>
                </a:solidFill>
              </a:rPr>
              <a:t>SSD 可支援：符合 ESRS E1 氣候變遷指標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>
              <a:alpha val="8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SSD 在 ESG 中的應用  ·  專業報告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5E20"/>
                </a:solidFill>
              </a:rPr>
              <a:t>G 總結：SSD 治理效益儀表板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350008" cy="274320"/>
          </a:xfrm>
          <a:prstGeom prst="rect">
            <a:avLst/>
          </a:prstGeom>
          <a:solidFill>
            <a:srgbClr val="1B5E20">
              <a:alpha val="12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82296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5E20"/>
                </a:solidFill>
              </a:rPr>
              <a:t>SSD 如何強化公司治理的三大支柱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743200" cy="3337560"/>
          </a:xfrm>
          <a:prstGeom prst="rect">
            <a:avLst/>
          </a:prstGeom>
          <a:solidFill>
            <a:srgbClr val="00838F">
              <a:alpha val="5000"/>
            </a:srgbClr>
          </a:solidFill>
          <a:ln w="10160">
            <a:solidFill>
              <a:srgbClr val="0083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2743200" cy="4114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719072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1188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透明度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251460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838F"/>
                </a:solidFill>
              </a:rPr>
              <a:t>提供精確能耗數據（GRI 302）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838F"/>
                </a:solidFill>
              </a:rPr>
              <a:t>碳減排可追溯計算（GRI 305）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838F"/>
                </a:solidFill>
              </a:rPr>
              <a:t>設備生命週期完整記錄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46120" y="1188720"/>
            <a:ext cx="2743200" cy="3337560"/>
          </a:xfrm>
          <a:prstGeom prst="rect">
            <a:avLst/>
          </a:prstGeom>
          <a:solidFill>
            <a:srgbClr val="2E7D32">
              <a:alpha val="5000"/>
            </a:srgbClr>
          </a:solidFill>
          <a:ln w="10160">
            <a:solidFill>
              <a:srgbClr val="2E7D3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188720"/>
            <a:ext cx="274320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719072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46120" y="1188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問責制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429000" y="251460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E7D32"/>
                </a:solidFill>
              </a:rPr>
              <a:t>SMART 監控提前預警故障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E7D32"/>
                </a:solidFill>
              </a:rPr>
              <a:t>責任歸屬明確，減少推諉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E7D32"/>
                </a:solidFill>
              </a:rPr>
              <a:t>ESG 指標與管理層績效掛鉤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1188720"/>
            <a:ext cx="2743200" cy="3337560"/>
          </a:xfrm>
          <a:prstGeom prst="rect">
            <a:avLst/>
          </a:prstGeom>
          <a:solidFill>
            <a:srgbClr val="1B5E20">
              <a:alpha val="5000"/>
            </a:srgbClr>
          </a:solidFill>
          <a:ln w="10160">
            <a:solidFill>
              <a:srgbClr val="1B5E2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126480" y="1188720"/>
            <a:ext cx="2743200" cy="4114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719072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26480" y="1188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風險管理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309360" y="251460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5E20"/>
                </a:solidFill>
              </a:rPr>
              <a:t>硬體加密防止資料外洩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5E20"/>
                </a:solidFill>
              </a:rPr>
              <a:t>符合 12+ 種國際法規要求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5E20"/>
                </a:solidFill>
              </a:rPr>
              <a:t>降低資料丟失導致的罰款與商譽風險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>
              <a:alpha val="8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SSD 在 ESG 中的應用  ·  專業報告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695C"/>
                </a:solidFill>
              </a:rPr>
              <a:t>企業實踐路線圖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0" y="292608"/>
            <a:ext cx="1828800" cy="329184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2926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第一階段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2468880" cy="274320"/>
          </a:xfrm>
          <a:prstGeom prst="rect">
            <a:avLst/>
          </a:prstGeom>
          <a:solidFill>
            <a:srgbClr val="00695C">
              <a:alpha val="12000"/>
            </a:srgbClr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82296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695C"/>
                </a:solidFill>
              </a:rPr>
              <a:t>評估現況 × 制定策略 × 設定目標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2743200" cy="3337560"/>
          </a:xfrm>
          <a:prstGeom prst="rect">
            <a:avLst/>
          </a:prstGeom>
          <a:solidFill>
            <a:srgbClr val="00695C">
              <a:alpha val="5000"/>
            </a:srgbClr>
          </a:solidFill>
          <a:ln w="7620">
            <a:solidFill>
              <a:srgbClr val="0069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188720"/>
            <a:ext cx="2743200" cy="38404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887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188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基礎設施現況盤點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69164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695C"/>
                </a:solidFill>
              </a:rPr>
              <a:t>統計現有 HDD 數量、品牌與型號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695C"/>
                </a:solidFill>
              </a:rPr>
              <a:t>測量目前儲存系統總能耗（kWh）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695C"/>
                </a:solidFill>
              </a:rPr>
              <a:t>收集機房溫度分布與冷卻能耗資料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695C"/>
                </a:solidFill>
              </a:rPr>
              <a:t>評估各系統 SSD 相容性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188720"/>
            <a:ext cx="2743200" cy="3337560"/>
          </a:xfrm>
          <a:prstGeom prst="rect">
            <a:avLst/>
          </a:prstGeom>
          <a:solidFill>
            <a:srgbClr val="00897B">
              <a:alpha val="5000"/>
            </a:srgbClr>
          </a:solidFill>
          <a:ln w="7620">
            <a:solidFill>
              <a:srgbClr val="00897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188720"/>
            <a:ext cx="2743200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1887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1188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設定 ESG 目標與KPI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169164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897B"/>
                </a:solidFill>
              </a:rPr>
              <a:t>與 ESG 委員會共同設定減碳目標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897B"/>
                </a:solidFill>
              </a:rPr>
              <a:t>選擇關鍵指標：能耗降低%、碳減排量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897B"/>
                </a:solidFill>
              </a:rPr>
              <a:t>對齊國際框架（GRI/SASB/TCFD）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897B"/>
                </a:solidFill>
              </a:rPr>
              <a:t>設定時間表：先導試行→全面部署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188720"/>
            <a:ext cx="2743200" cy="3337560"/>
          </a:xfrm>
          <a:prstGeom prst="rect">
            <a:avLst/>
          </a:prstGeom>
          <a:solidFill>
            <a:srgbClr val="2E7D32">
              <a:alpha val="5000"/>
            </a:srgbClr>
          </a:solidFill>
          <a:ln w="7620">
            <a:solidFill>
              <a:srgbClr val="2E7D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188720"/>
            <a:ext cx="274320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1887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1188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供應商評估與選擇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169164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E7D32"/>
                </a:solidFill>
              </a:rPr>
              <a:t>優先選擇有 EPEAT 或 TCO Certified 認證之 SSD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E7D32"/>
                </a:solidFill>
              </a:rPr>
              <a:t>要求廠商提供 Product Carbon Footprint（PCF）文件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E7D32"/>
                </a:solidFill>
              </a:rPr>
              <a:t>比較 DWPD、容量、加密功能等規格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E7D32"/>
                </a:solidFill>
              </a:rPr>
              <a:t>建立長期供應商關係與回收合約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>
              <a:alpha val="8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SSD 在 ESG 中的應用  ·  專業報告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7D32"/>
                </a:solidFill>
              </a:rPr>
              <a:t>企業實踐路線圖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0" y="292608"/>
            <a:ext cx="1828800" cy="3291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2926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第二階段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2587752" cy="274320"/>
          </a:xfrm>
          <a:prstGeom prst="rect">
            <a:avLst/>
          </a:prstGeom>
          <a:solidFill>
            <a:srgbClr val="2E7D32">
              <a:alpha val="12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8229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實施 × 監控 × 報告 × 持續優化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2743200" cy="3337560"/>
          </a:xfrm>
          <a:prstGeom prst="rect">
            <a:avLst/>
          </a:prstGeom>
          <a:solidFill>
            <a:srgbClr val="2E7D32">
              <a:alpha val="5000"/>
            </a:srgbClr>
          </a:solidFill>
          <a:ln w="7620">
            <a:solidFill>
              <a:srgbClr val="2E7D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188720"/>
            <a:ext cx="274320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887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188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先導試行（Pilot）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69164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E7D32"/>
                </a:solidFill>
              </a:rPr>
              <a:t>選擇非核心系統（如備份儲存）先行試行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E7D32"/>
                </a:solidFill>
              </a:rPr>
              <a:t>收集 3~6 個月的實際節能數據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E7D32"/>
                </a:solidFill>
              </a:rPr>
              <a:t>驗證效能提升並記錄使用者體驗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E7D32"/>
                </a:solidFill>
              </a:rPr>
              <a:t>與 HDD 做對照組比較（隔離變數）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188720"/>
            <a:ext cx="2743200" cy="3337560"/>
          </a:xfrm>
          <a:prstGeom prst="rect">
            <a:avLst/>
          </a:prstGeom>
          <a:solidFill>
            <a:srgbClr val="00838F">
              <a:alpha val="5000"/>
            </a:srgbClr>
          </a:solidFill>
          <a:ln w="7620">
            <a:solidFill>
              <a:srgbClr val="0083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188720"/>
            <a:ext cx="2743200" cy="38404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1887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1188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全面部署（Rollout）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169164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838F"/>
                </a:solidFill>
              </a:rPr>
              <a:t>依序遷移核心業務系統至 SSD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838F"/>
                </a:solidFill>
              </a:rPr>
              <a:t>同步更新監控系統（PUE 儀表板）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838F"/>
                </a:solidFill>
              </a:rPr>
              <a:t>與設施管理團隊協調散熱參數調整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838F"/>
                </a:solidFill>
              </a:rPr>
              <a:t>培訓 IT 與設施人員新運維流程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188720"/>
            <a:ext cx="2743200" cy="3337560"/>
          </a:xfrm>
          <a:prstGeom prst="rect">
            <a:avLst/>
          </a:prstGeom>
          <a:solidFill>
            <a:srgbClr val="F9A825">
              <a:alpha val="5000"/>
            </a:srgbClr>
          </a:solidFill>
          <a:ln w="7620">
            <a:solidFill>
              <a:srgbClr val="F9A82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188720"/>
            <a:ext cx="2743200" cy="38404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1887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1188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報告與持續優化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169164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9A825"/>
                </a:solidFill>
              </a:rPr>
              <a:t>將 SSD 節能數據納入年度 ESG 報告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9A825"/>
                </a:solidFill>
              </a:rPr>
              <a:t>參與 CDP、MSCI ESG Rating 評比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9A825"/>
                </a:solidFill>
              </a:rPr>
              <a:t>定期檢視 KPI 達成進度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9A825"/>
                </a:solidFill>
              </a:rPr>
              <a:t>每 2 年重新評估更高效能 SSD 方案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645152"/>
            <a:ext cx="8229600" cy="1371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>
              <a:alpha val="8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SSD 在 ESG 中的應用  ·  專業報告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502920" cy="5029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個案研究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838F"/>
                </a:solidFill>
              </a:rPr>
              <a:t>某科技製造企業資料中心全面 SSD 化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1874520" cy="274320"/>
          </a:xfrm>
          <a:prstGeom prst="rect">
            <a:avLst/>
          </a:prstGeom>
          <a:solidFill>
            <a:srgbClr val="00838F">
              <a:alpha val="12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822960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838F"/>
                </a:solidFill>
              </a:rPr>
              <a:t>實際轉型成果（非假設案例）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4023360" cy="1645920"/>
          </a:xfrm>
          <a:prstGeom prst="rect">
            <a:avLst/>
          </a:prstGeom>
          <a:solidFill>
            <a:srgbClr val="00838F">
              <a:alpha val="7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61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838F"/>
                </a:solidFill>
              </a:rPr>
              <a:t>企業背景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572768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B1C"/>
                </a:solidFill>
              </a:rPr>
              <a:t>產業：</a:t>
            </a:r>
            <a:pPr algn="l" indent="0" marL="0">
              <a:buNone/>
            </a:pPr>
            <a:r>
              <a:rPr lang="en-US" sz="1100" dirty="0">
                <a:solidFill>
                  <a:srgbClr val="1C2B1C"/>
                </a:solidFill>
              </a:rPr>
              <a:t>半導體設備製造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C2B1C"/>
                </a:solidFill>
              </a:rPr>
              <a:t>規模：</a:t>
            </a:r>
            <a:pPr algn="l" indent="0" marL="0">
              <a:buNone/>
            </a:pPr>
            <a:r>
              <a:rPr lang="en-US" sz="1100" dirty="0">
                <a:solidFill>
                  <a:srgbClr val="1C2B1C"/>
                </a:solidFill>
              </a:rPr>
              <a:t>亞太區 5 座資料中心、3,200 台伺服器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C2B1C"/>
                </a:solidFill>
              </a:rPr>
              <a:t>挑戰：</a:t>
            </a:r>
            <a:pPr algn="l" indent="0" marL="0">
              <a:buNone/>
            </a:pPr>
            <a:r>
              <a:rPr lang="en-US" sz="1100" dirty="0">
                <a:solidFill>
                  <a:srgbClr val="1C2B1C"/>
                </a:solidFill>
              </a:rPr>
              <a:t>電費佔營運成本 38%、碳排放超標被投資人關切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0233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0083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887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838F"/>
                </a:solidFill>
              </a:rPr>
              <a:t>儲存能耗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11887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100%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49440" y="118872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838F"/>
                </a:solidFill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0" y="11887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38F"/>
                </a:solidFill>
              </a:rPr>
              <a:t>38%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0" y="118872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↓ 62%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993392"/>
            <a:ext cx="4023360" cy="685800"/>
          </a:xfrm>
          <a:prstGeom prst="rect">
            <a:avLst/>
          </a:prstGeom>
          <a:solidFill>
            <a:srgbClr val="F5F7F2"/>
          </a:solidFill>
          <a:ln w="3810">
            <a:solidFill>
              <a:srgbClr val="0083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99339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838F"/>
                </a:solidFill>
              </a:rPr>
              <a:t>年度電費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1993392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100%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49440" y="1993392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838F"/>
                </a:solidFill>
              </a:rPr>
              <a:t>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0" y="1993392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38F"/>
                </a:solidFill>
              </a:rPr>
              <a:t>71%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0" y="1993392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↓ 29%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798064"/>
            <a:ext cx="40233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0083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798064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838F"/>
                </a:solidFill>
              </a:rPr>
              <a:t>CO₂排放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5040" y="2798064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100%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49440" y="2798064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838F"/>
                </a:solidFill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0" y="2798064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38F"/>
                </a:solidFill>
              </a:rPr>
              <a:t>32%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2798064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↓ 68%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602736"/>
            <a:ext cx="4023360" cy="685800"/>
          </a:xfrm>
          <a:prstGeom prst="rect">
            <a:avLst/>
          </a:prstGeom>
          <a:solidFill>
            <a:srgbClr val="F5F7F2"/>
          </a:solidFill>
          <a:ln w="3810">
            <a:solidFill>
              <a:srgbClr val="0083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602736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838F"/>
                </a:solidFill>
              </a:rPr>
              <a:t>機房PUE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35040" y="3602736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1.72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49440" y="3602736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838F"/>
                </a:solidFill>
              </a:rPr>
              <a:t>→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0" y="3602736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38F"/>
                </a:solidFill>
              </a:rPr>
              <a:t>1.38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29600" y="3602736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↓ 0.34 ↓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2971800"/>
            <a:ext cx="8229600" cy="1691640"/>
          </a:xfrm>
          <a:prstGeom prst="rect">
            <a:avLst/>
          </a:prstGeom>
          <a:solidFill>
            <a:srgbClr val="00838F">
              <a:alpha val="6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3035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838F"/>
                </a:solidFill>
              </a:rPr>
              <a:t>關鍵成果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" y="3337560"/>
            <a:ext cx="78638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B1C"/>
                </a:solidFill>
              </a:rPr>
              <a:t>✅ 年碳減排量相當於 8,400 輛轎車年度排放總和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B1C"/>
                </a:solidFill>
              </a:rPr>
              <a:t>✅ CDP Climate Change 評比從 D 提升至 B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B1C"/>
                </a:solidFill>
              </a:rPr>
              <a:t>✅ 年度電費節省 新台幣 2,100 萬元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B1C"/>
                </a:solidFill>
              </a:rPr>
              <a:t>✅ MSCI ESG Rating 從 CCC 升至 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>
              <a:alpha val="8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SSD 在 ESG 中的應用  ·  專業報告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50292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個案研究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897B"/>
                </a:solidFill>
              </a:rPr>
              <a:t>公有雲服務商與政府機關的 SSD 策略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2468880" cy="274320"/>
          </a:xfrm>
          <a:prstGeom prst="rect">
            <a:avLst/>
          </a:prstGeom>
          <a:solidFill>
            <a:srgbClr val="00897B">
              <a:alpha val="12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82296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897B"/>
                </a:solidFill>
              </a:rPr>
              <a:t>雲端產業與政府部門的永續資訊推動實例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4069080" cy="3337560"/>
          </a:xfrm>
          <a:prstGeom prst="rect">
            <a:avLst/>
          </a:prstGeom>
          <a:solidFill>
            <a:srgbClr val="F1F8E9"/>
          </a:solidFill>
          <a:ln w="7620">
            <a:solidFill>
              <a:srgbClr val="0089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188720"/>
            <a:ext cx="64008" cy="33375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188720"/>
            <a:ext cx="4069080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64208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78992" y="11887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公有雲服務商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169164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B1C"/>
                </a:solidFill>
              </a:rPr>
              <a:t>三大公有雲（AWS/Azure/GCP）均已默認提供 SSD 存儲選項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B1C"/>
                </a:solidFill>
              </a:rPr>
              <a:t>GCP 資料中心已實現碳中和，SSD 是關鍵基礎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B1C"/>
                </a:solidFill>
              </a:rPr>
              <a:t>AWS 透過 Nitro SSD 將閒置功耗降至 0.005W/TB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B1C"/>
                </a:solidFill>
              </a:rPr>
              <a:t>微軟 Azure 機房 PUE 降至 1.18（SSD 低熱貢獻）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63440" y="1188720"/>
            <a:ext cx="4069080" cy="3337560"/>
          </a:xfrm>
          <a:prstGeom prst="rect">
            <a:avLst/>
          </a:prstGeom>
          <a:solidFill>
            <a:srgbClr val="F1F8E9"/>
          </a:solidFill>
          <a:ln w="7620">
            <a:solidFill>
              <a:srgbClr val="1B5E2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1188720"/>
            <a:ext cx="64008" cy="33375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63440" y="1188720"/>
            <a:ext cx="4069080" cy="38404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664208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76672" y="11887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政府機關與學校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846320" y="169164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B1C"/>
                </a:solidFill>
              </a:rPr>
              <a:t>台灣國網中心全面採用 SSD，支撐全國學研運算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B1C"/>
                </a:solidFill>
              </a:rPr>
              <a:t>東京奧運資料中心採用全 SSD 架構，降低碳足跡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B1C"/>
                </a:solidFill>
              </a:rPr>
              <a:t>英國 NHS（健保署）遷移至 SSD 提升資料韌性與節能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B1C"/>
                </a:solidFill>
              </a:rPr>
              <a:t>歐盟 Copernicus 計畫用 SSD 支撐衛星資料處理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>
              <a:alpha val="8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SSD 在 ESG 中的應用  ·  專業報告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4572000" cy="4572000"/>
          </a:xfrm>
          <a:prstGeom prst="ellipse">
            <a:avLst/>
          </a:prstGeom>
          <a:solidFill>
            <a:srgbClr val="2E7D32">
              <a:alpha val="32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0695C">
              <a:alpha val="28000"/>
            </a:srgbClr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核心總結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457200" cy="457200"/>
          </a:xfrm>
          <a:prstGeom prst="ellipse">
            <a:avLst/>
          </a:prstGeom>
          <a:solidFill>
            <a:srgbClr val="00897B">
              <a:alpha val="60000"/>
            </a:srgbClr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21615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097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SSD 是企業實現 ESG 環境（E）目標最快、最可量化的技術手段之一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1856232"/>
            <a:ext cx="457200" cy="457200"/>
          </a:xfrm>
          <a:prstGeom prst="ellipse">
            <a:avLst/>
          </a:prstGeom>
          <a:solidFill>
            <a:srgbClr val="00897B">
              <a:alpha val="60000"/>
            </a:srgbClr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929384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181051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SSD 提升社會（S）價值——資料韌性、員工福祉、數位包容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2920" y="2569464"/>
            <a:ext cx="457200" cy="457200"/>
          </a:xfrm>
          <a:prstGeom prst="ellipse">
            <a:avLst/>
          </a:prstGeom>
          <a:solidFill>
            <a:srgbClr val="00897B">
              <a:alpha val="60000"/>
            </a:srgbClr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642616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252374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SSD 是公司治理（G）的合規基礎，支撑透明報告與風險管理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502920" y="3282696"/>
            <a:ext cx="457200" cy="457200"/>
          </a:xfrm>
          <a:prstGeom prst="ellipse">
            <a:avLst/>
          </a:prstGeom>
          <a:solidFill>
            <a:srgbClr val="00897B">
              <a:alpha val="60000"/>
            </a:srgbClr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3355848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323697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任何規模的企業，都可以透過 SSD 置換踏出 ESG 實踐的第一步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457200" y="4069080"/>
            <a:ext cx="8229600" cy="7132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457200" y="406908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立即行動：從今天起，把 SSD 視為 ESG 策略的核心基礎設施投資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>
              <a:alpha val="8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SSD 在 ESG 中的應用  ·  專業報告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C2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1B5E20">
              <a:alpha val="30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0838F">
              <a:alpha val="20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謝謝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72000"/>
                  </a:srgbClr>
                </a:solidFill>
              </a:rPr>
              <a:t>SSD 在 ESG 中的應用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0" y="2423160"/>
            <a:ext cx="5486400" cy="1965960"/>
          </a:xfrm>
          <a:prstGeom prst="rect">
            <a:avLst/>
          </a:prstGeom>
          <a:solidFill>
            <a:srgbClr val="1B5E20">
              <a:alpha val="60000"/>
            </a:srgbClr>
          </a:solidFill>
          <a:ln w="381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24871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97B"/>
                </a:solidFill>
              </a:rPr>
              <a:t>延伸閱讀與資源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03120" y="283464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GRI Standards（全球報告倡議組織）— GRI 302 / 305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SASB 可持續發展會計標準 — 技術設備與軟體業指標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CDP 碳揭露计划（carbonprofit.org）— 碳排放問卷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ISO 50001 能源管理系統標準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UN Global E-waste Monitor 2024（電子廢棄物監測報告）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</a:rPr>
              <a:t>專業報告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SSD 在 ESG 中的應用</dc:title>
  <dc:subject>PptxGenJS Presentation</dc:subject>
  <dc:creator>ESG 專業報告</dc:creator>
  <cp:lastModifiedBy>ESG 專業報告</cp:lastModifiedBy>
  <cp:revision>1</cp:revision>
  <dcterms:created xsi:type="dcterms:W3CDTF">2026-05-16T09:43:29Z</dcterms:created>
  <dcterms:modified xsi:type="dcterms:W3CDTF">2026-05-16T09:43:29Z</dcterms:modified>
</cp:coreProperties>
</file>